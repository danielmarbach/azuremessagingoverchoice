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47"/>
  </p:notesMasterIdLst>
  <p:sldIdLst>
    <p:sldId id="257" r:id="rId3"/>
    <p:sldId id="2147480798" r:id="rId4"/>
    <p:sldId id="2147480810" r:id="rId5"/>
    <p:sldId id="2147480811" r:id="rId6"/>
    <p:sldId id="2147480812" r:id="rId7"/>
    <p:sldId id="2147480803" r:id="rId8"/>
    <p:sldId id="2147480796" r:id="rId9"/>
    <p:sldId id="2147480795" r:id="rId10"/>
    <p:sldId id="2147480805" r:id="rId11"/>
    <p:sldId id="2147480814" r:id="rId12"/>
    <p:sldId id="2147480815" r:id="rId13"/>
    <p:sldId id="2147480816" r:id="rId14"/>
    <p:sldId id="2147480817" r:id="rId15"/>
    <p:sldId id="2147480818" r:id="rId16"/>
    <p:sldId id="2147480819" r:id="rId17"/>
    <p:sldId id="2147480820" r:id="rId18"/>
    <p:sldId id="2147480821" r:id="rId19"/>
    <p:sldId id="2147480799" r:id="rId20"/>
    <p:sldId id="2147480813" r:id="rId21"/>
    <p:sldId id="2147480800" r:id="rId22"/>
    <p:sldId id="2147480822" r:id="rId23"/>
    <p:sldId id="2147480823" r:id="rId24"/>
    <p:sldId id="2147480824" r:id="rId25"/>
    <p:sldId id="2147480825" r:id="rId26"/>
    <p:sldId id="2147480826" r:id="rId27"/>
    <p:sldId id="2147480827" r:id="rId28"/>
    <p:sldId id="2147480828" r:id="rId29"/>
    <p:sldId id="2147480829" r:id="rId30"/>
    <p:sldId id="2147480830" r:id="rId31"/>
    <p:sldId id="2147480831" r:id="rId32"/>
    <p:sldId id="2147480832" r:id="rId33"/>
    <p:sldId id="2147480833" r:id="rId34"/>
    <p:sldId id="2147480834" r:id="rId35"/>
    <p:sldId id="2147480835" r:id="rId36"/>
    <p:sldId id="2147480804" r:id="rId37"/>
    <p:sldId id="2147480802" r:id="rId38"/>
    <p:sldId id="2147480806" r:id="rId39"/>
    <p:sldId id="2147480801" r:id="rId40"/>
    <p:sldId id="2147480808" r:id="rId41"/>
    <p:sldId id="709" r:id="rId42"/>
    <p:sldId id="2147480793" r:id="rId43"/>
    <p:sldId id="2147480836" r:id="rId44"/>
    <p:sldId id="2147480837" r:id="rId45"/>
    <p:sldId id="2147480794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F4412E-B7E5-BF48-A329-453E1D4B3A61}">
          <p14:sldIdLst>
            <p14:sldId id="257"/>
          </p14:sldIdLst>
        </p14:section>
        <p14:section name="Service Bus" id="{C1A2A247-4E12-AE4C-BCA4-826E26B19FBE}">
          <p14:sldIdLst>
            <p14:sldId id="2147480798"/>
            <p14:sldId id="2147480810"/>
            <p14:sldId id="2147480811"/>
            <p14:sldId id="2147480812"/>
            <p14:sldId id="2147480803"/>
            <p14:sldId id="2147480796"/>
            <p14:sldId id="2147480795"/>
            <p14:sldId id="2147480805"/>
            <p14:sldId id="2147480814"/>
            <p14:sldId id="2147480815"/>
            <p14:sldId id="2147480816"/>
            <p14:sldId id="2147480817"/>
            <p14:sldId id="2147480818"/>
            <p14:sldId id="2147480819"/>
            <p14:sldId id="2147480820"/>
            <p14:sldId id="2147480821"/>
            <p14:sldId id="2147480799"/>
            <p14:sldId id="2147480813"/>
          </p14:sldIdLst>
        </p14:section>
        <p14:section name="Event Hubs" id="{EE250FFE-A41C-0A43-8343-FECB432D9BCB}">
          <p14:sldIdLst>
            <p14:sldId id="2147480800"/>
            <p14:sldId id="2147480822"/>
            <p14:sldId id="2147480823"/>
            <p14:sldId id="2147480824"/>
            <p14:sldId id="2147480825"/>
            <p14:sldId id="2147480826"/>
            <p14:sldId id="2147480827"/>
            <p14:sldId id="2147480828"/>
            <p14:sldId id="2147480829"/>
            <p14:sldId id="2147480830"/>
            <p14:sldId id="2147480831"/>
            <p14:sldId id="2147480832"/>
            <p14:sldId id="2147480833"/>
            <p14:sldId id="2147480834"/>
            <p14:sldId id="2147480835"/>
            <p14:sldId id="2147480804"/>
          </p14:sldIdLst>
        </p14:section>
        <p14:section name="Event Grid" id="{693D50D4-FAE8-4A41-8BA2-B27EAF9DD3E9}">
          <p14:sldIdLst>
            <p14:sldId id="2147480802"/>
            <p14:sldId id="2147480806"/>
            <p14:sldId id="2147480801"/>
            <p14:sldId id="2147480808"/>
          </p14:sldIdLst>
        </p14:section>
        <p14:section name="Wrap up" id="{1F2F8363-3E12-3442-94D9-0043DF96EC09}">
          <p14:sldIdLst>
            <p14:sldId id="709"/>
            <p14:sldId id="2147480793"/>
            <p14:sldId id="2147480836"/>
            <p14:sldId id="2147480837"/>
            <p14:sldId id="21474807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A1A"/>
    <a:srgbClr val="1E1E1E"/>
    <a:srgbClr val="2A24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50"/>
    <p:restoredTop sz="61667"/>
  </p:normalViewPr>
  <p:slideViewPr>
    <p:cSldViewPr snapToGrid="0">
      <p:cViewPr varScale="1">
        <p:scale>
          <a:sx n="91" d="100"/>
          <a:sy n="91" d="100"/>
        </p:scale>
        <p:origin x="28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78A594-58CB-0A47-A214-EFDFB9F27576}" type="datetimeFigureOut">
              <a:rPr lang="en-US" smtClean="0"/>
              <a:t>5/19/25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172418-D9C9-2043-9217-E6B77BFEC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7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A657F-BF3E-4BC8-BD58-D0B03B862583}" type="slidenum">
              <a:rPr lang="de-DE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5114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72418-D9C9-2043-9217-E6B77BFECE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26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72418-D9C9-2043-9217-E6B77BFECE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257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72418-D9C9-2043-9217-E6B77BFECE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43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72418-D9C9-2043-9217-E6B77BFECEB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96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72418-D9C9-2043-9217-E6B77BFECEB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94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72418-D9C9-2043-9217-E6B77BFECEB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27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72418-D9C9-2043-9217-E6B77BFECEB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34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Event Hubs IAM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72418-D9C9-2043-9217-E6B77BFECEB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398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72418-D9C9-2043-9217-E6B77BFECEB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897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72418-D9C9-2043-9217-E6B77BFECEB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077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72418-D9C9-2043-9217-E6B77BFECEB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397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72418-D9C9-2043-9217-E6B77BFECEB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130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72418-D9C9-2043-9217-E6B77BFECEB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798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72418-D9C9-2043-9217-E6B77BFECEB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432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Service Composition:</a:t>
            </a:r>
            <a:r>
              <a:rPr lang="en-US" dirty="0"/>
              <a:t> Event Grid, Service Bus, and Event Hub can be composed for flexible use cases.</a:t>
            </a:r>
          </a:p>
          <a:p>
            <a:r>
              <a:rPr lang="en-US" b="1" dirty="0"/>
              <a:t>Event Emission and Quick Reaction: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Service Bus and Event Hub emit events to Event Grid when queues or subscriptions activate after idle periods.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Event Grid triggers functions to spin up job processors, saving resources when messages are sporadic or high-value but infrequent.</a:t>
            </a:r>
          </a:p>
          <a:p>
            <a:r>
              <a:rPr lang="en-US" b="1" dirty="0"/>
              <a:t>Event Hub Capture Integration:</a:t>
            </a:r>
            <a:r>
              <a:rPr lang="en-US" dirty="0"/>
              <a:t> Event Hub emits Grid events when a Capture package is stored in Azure Storage, triggering functions for processing or moving the package.</a:t>
            </a:r>
          </a:p>
          <a:p>
            <a:r>
              <a:rPr lang="en-US" b="1" dirty="0"/>
              <a:t>Routing Grid Events to Service Bus or Event Hubs: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Events can be routed into Service Bus queues or topics for scenarios requiring: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Hybrid Cloud Solutions:</a:t>
            </a:r>
            <a:r>
              <a:rPr lang="en-US" dirty="0"/>
              <a:t> On-premises services can monitor Azure Storage via Service Bus queues.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Costly or Long-Running Processing:</a:t>
            </a:r>
            <a:r>
              <a:rPr lang="en-US" dirty="0"/>
              <a:t> Service Bus allows for extended processing time without risking event acknowledgment failures.</a:t>
            </a:r>
          </a:p>
          <a:p>
            <a:r>
              <a:rPr lang="en-US" b="1" dirty="0"/>
              <a:t>Statistical Analysis with Event Hubs: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Grid events can be selectively routed to Event Hubs for analytics.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Event Hub Capture provides an archival solution for Grid events, enabling easy integration with analytics channels.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3E1E47-3DD7-43FC-89E9-23237525F7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66112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Because use cases often overlap, Service Bus, Event Hub, and Event Grid can be composed. 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First</a:t>
            </a:r>
            <a:r>
              <a:rPr lang="en-US" dirty="0"/>
              <a:t>, both Service Bus and Event Hub can emit events to Event Grid, enabling applications to react to changes efficiently. For example, when a queue or subscription receives a message after being idle, it emits a Grid event. This can trigger a function to spin up a processor, ideal for infrequent but high-value messages—saving resources by only running services when needed. Similarly, Event Hub emits a Grid event when a Capture package lands in Azure Storage, which can trigger processing or transfer functions.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Second</a:t>
            </a:r>
            <a:r>
              <a:rPr lang="en-US" dirty="0"/>
              <a:t>, Event Grid can route events into Service Bus or Event Hubs. For instance, an on-premises service in a hybrid setup can listen on a Service Bus queue subscribed to Azure Storage events, enabling it to react to new files. This model is useful for time/resource-intensive or failure-prone processing, since Service Bus supports longer processing durations with message locks.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Event Grid events can also be selectively routed to Event Hubs for analytics or archival via Event Hub Capture—no extra code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A657F-BF3E-4BC8-BD58-D0B03B86258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468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72418-D9C9-2043-9217-E6B77BFECEB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06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7BB6D-2FC2-A876-DC49-6BE63F976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5F3C8-C694-5C86-D1FA-A14CE2CF9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8F98DF-C809-DCDC-2727-06B731DA1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94765-BA07-B50C-FF8A-3F1C717C3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BA657F-BF3E-4BC8-BD58-D0B03B86258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03485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67DF4-9F47-64B3-9983-DDB7BA592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FB21735-AB2A-7DBD-CCB0-42B0F1D1C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4365165-24B8-313B-5C39-6B4920823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11F44E-596F-DC1C-0413-5C8516C1B2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BA657F-BF3E-4BC8-BD58-D0B03B862583}" type="slidenum"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3591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FE02-DAB1-8606-31A2-E306CF6B4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0203E-EE19-AE0E-4AD7-D302C1BAA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64D5D-5599-4DF4-CED8-6DCFB824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9698-1D11-1543-ADE1-5BEB9308551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AE704-B2FC-C12C-55CD-B6B4FE8F0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6798A-8DC2-09CA-AA2E-A0F253AF3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1CCF4-0D91-3B47-AA6F-C4921ABA0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67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4487-FD76-37D2-5988-58FB548F5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76704-6332-AAE9-504F-33D55F958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5C42B-0431-BA85-E7C4-11719F9F3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9698-1D11-1543-ADE1-5BEB9308551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BA568-DE1A-8C6F-044F-3934F661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FC012-6792-F728-094F-AB222657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1CCF4-0D91-3B47-AA6F-C4921ABA0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790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A4335-74DA-B5F9-767F-C4458F992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0074B-A041-9857-5FB4-86F589018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E4D3E-6D09-E739-BBFF-D414726CA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9698-1D11-1543-ADE1-5BEB9308551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89AF9-543E-F732-BA61-C8A1C218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450E2-2BDC-648E-F000-827798FDA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1CCF4-0D91-3B47-AA6F-C4921ABA0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117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08AAC-B892-4719-9803-08FECBBCC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5E70A-DFC6-D608-D047-180088A878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A1EB8-6949-9CA1-0DC5-C7A98756D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6EC51-4055-44B9-BEE0-347F94C3D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9698-1D11-1543-ADE1-5BEB9308551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286B0-7F6E-5F38-7D3A-7A65DD78D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BB962-ECC3-0ECA-A98B-654C16E9A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1CCF4-0D91-3B47-AA6F-C4921ABA0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80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95F4E-8767-9FE8-39D5-7AD086A53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5194E-21D1-B25B-E0DD-37BCC818A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7A20A-8322-77D5-20BE-CEF0188E7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B4918-19E0-4044-1A15-ADAAA7C5C5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3A5AE1-446C-6889-9E21-DC538A2DE2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8D7065-E30B-6E36-D13F-7E54330FA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9698-1D11-1543-ADE1-5BEB9308551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005CDD-1D91-721E-B49A-C28F522B7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DA0F19-DA5E-ACD0-EB59-B3B14DBAE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1CCF4-0D91-3B47-AA6F-C4921ABA0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24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D325-33FA-3CB5-2DB7-D64413B7A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C38E68-AFD9-3517-7747-649133CB5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9698-1D11-1543-ADE1-5BEB9308551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16BE6-0830-4DC7-BE33-150A11BC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890E3E-D9B6-84A1-1EF6-D0EDCF721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1CCF4-0D91-3B47-AA6F-C4921ABA0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309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41F59D-3CB5-D671-BE61-7A8A7B832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9698-1D11-1543-ADE1-5BEB9308551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0601EA-DE58-A096-8E3C-247D4A6D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D763B-2A43-7974-D2FE-CDE65E2D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1CCF4-0D91-3B47-AA6F-C4921ABA0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53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9366-BF99-F8CD-44E4-D6DCCD547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C7B69-67B7-8531-8700-AD90D9228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E5E12-617D-1A17-29A2-849A64E81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8A203-D325-B3B2-5067-1E4287E48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9698-1D11-1543-ADE1-5BEB9308551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63BA7-F9D0-F7DC-1621-02FF8543E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BCEEE-0158-912E-065B-2F002480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1CCF4-0D91-3B47-AA6F-C4921ABA0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14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67AC6-078E-7A6A-8796-AC6F00F21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221835-9D16-52E4-2DDA-30C1348BFC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15203-928D-9BCD-4948-DB62C5BB2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65D86-34D7-22EB-CE33-257FFD389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9698-1D11-1543-ADE1-5BEB9308551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41D86F-EB1D-1E4C-3F48-3836B9176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CE-AE62-86F6-79BC-09DB621D5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1CCF4-0D91-3B47-AA6F-C4921ABA0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51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BB500-356D-478A-98EE-CF0B97DD1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D8896-CAAA-5C1E-DA39-854E99AF9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29358-4982-675E-0270-EB93B4E73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9698-1D11-1543-ADE1-5BEB9308551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B7F54-FA2D-FC88-CD72-594D0FD44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58C55-DA1A-4499-0D85-18F663F7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1CCF4-0D91-3B47-AA6F-C4921ABA0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686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D0F461-D66D-CE20-E681-58180D049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38755-BD8D-F44C-A10D-11DF20815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E51EB-6645-DE69-4466-9F1B9237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9698-1D11-1543-ADE1-5BEB9308551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657FB-3A4C-F48B-9834-9BEDC4F0B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DF1AC-92BC-43E7-6EC5-39942ADF2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1CCF4-0D91-3B47-AA6F-C4921ABA0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458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20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129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3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13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915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89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4076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1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115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6993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6400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6300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256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238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104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8074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065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9A223F9-C5CF-D745-BDCE-40996D989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69CE8-1E88-A946-A2FD-A59A617E4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94470-A0E2-47D9-835D-A70369D3D28C}" type="datetimeFigureOut">
              <a:rPr lang="en-CA" smtClean="0"/>
              <a:t>2025-05-19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42711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 hidden="1"/>
          <p:cNvSpPr txBox="1">
            <a:spLocks/>
          </p:cNvSpPr>
          <p:nvPr userDrawn="1"/>
        </p:nvSpPr>
        <p:spPr>
          <a:xfrm>
            <a:off x="10529456" y="6553200"/>
            <a:ext cx="1663691" cy="3048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>
                <a:solidFill>
                  <a:srgbClr val="666666"/>
                </a:solidFill>
              </a:rPr>
              <a:t>MICROSOFT CONFIDENTIAL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idx="1" hasCustomPrompt="1"/>
          </p:nvPr>
        </p:nvSpPr>
        <p:spPr>
          <a:xfrm>
            <a:off x="457200" y="457200"/>
            <a:ext cx="11277599" cy="5638800"/>
          </a:xfrm>
          <a:prstGeom prst="rect">
            <a:avLst/>
          </a:prstGeom>
        </p:spPr>
        <p:txBody>
          <a:bodyPr vert="horz" lIns="0" tIns="0" rIns="0" bIns="91440" rtlCol="0" anchor="ctr" anchorCtr="0">
            <a:normAutofit/>
          </a:bodyPr>
          <a:lstStyle>
            <a:lvl1pPr>
              <a:lnSpc>
                <a:spcPct val="110000"/>
              </a:lnSpc>
              <a:defRPr sz="4400" b="1" i="0">
                <a:solidFill>
                  <a:schemeClr val="tx1"/>
                </a:solidFill>
                <a:latin typeface="Segoe UI Semibold" panose="020B0702040204020203" pitchFamily="34" charset="0"/>
                <a:ea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lnSpc>
                <a:spcPct val="110000"/>
              </a:lnSpc>
              <a:defRPr sz="2400" b="0" i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10000"/>
              </a:lnSpc>
              <a:defRPr sz="2400" b="0" i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Subhead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F4F531-1753-1544-8A42-F788362A04E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29AFA16-AEC4-7D4A-82F3-BDAE8E4907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887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 hidden="1"/>
          <p:cNvSpPr txBox="1">
            <a:spLocks/>
          </p:cNvSpPr>
          <p:nvPr/>
        </p:nvSpPr>
        <p:spPr>
          <a:xfrm>
            <a:off x="10529456" y="6553200"/>
            <a:ext cx="1663691" cy="3048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>
                <a:solidFill>
                  <a:srgbClr val="666666"/>
                </a:solidFill>
              </a:rPr>
              <a:t>MICROSOFT CONFIDENTIAL</a:t>
            </a:r>
          </a:p>
        </p:txBody>
      </p:sp>
      <p:sp>
        <p:nvSpPr>
          <p:cNvPr id="12" name="Title Placeholder 2">
            <a:extLst>
              <a:ext uri="{FF2B5EF4-FFF2-40B4-BE49-F238E27FC236}">
                <a16:creationId xmlns:a16="http://schemas.microsoft.com/office/drawing/2014/main" id="{E901D344-ED89-49CF-99A7-86594AEA4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6350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Segoe UI Semibold" panose="020B0702040204020203" pitchFamily="34" charset="0"/>
                <a:ea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A99162F-3F7B-2242-A1B2-486A63B6C5DF}"/>
              </a:ext>
            </a:extLst>
          </p:cNvPr>
          <p:cNvSpPr>
            <a:spLocks noGrp="1"/>
          </p:cNvSpPr>
          <p:nvPr>
            <p:ph type="subTitle" idx="27"/>
          </p:nvPr>
        </p:nvSpPr>
        <p:spPr>
          <a:xfrm>
            <a:off x="457200" y="1051560"/>
            <a:ext cx="11277600" cy="685800"/>
          </a:xfrm>
        </p:spPr>
        <p:txBody>
          <a:bodyPr/>
          <a:lstStyle>
            <a:lvl1pPr marL="0" indent="0" algn="l">
              <a:buNone/>
              <a:defRPr sz="2400" b="1" i="0" spc="-60" baseline="0">
                <a:latin typeface="Segoe UI Semibold" charset="0"/>
                <a:ea typeface="Segoe UI Semibold" charset="0"/>
                <a:cs typeface="Segoe UI Semibold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F4F531-1753-1544-8A42-F788362A04E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29AFA16-AEC4-7D4A-82F3-BDAE8E4907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 hidden="1">
            <a:extLst>
              <a:ext uri="{FF2B5EF4-FFF2-40B4-BE49-F238E27FC236}">
                <a16:creationId xmlns:a16="http://schemas.microsoft.com/office/drawing/2014/main" id="{288157B8-476F-EA4F-A047-5A8BD09DED6D}"/>
              </a:ext>
            </a:extLst>
          </p:cNvPr>
          <p:cNvSpPr txBox="1">
            <a:spLocks/>
          </p:cNvSpPr>
          <p:nvPr userDrawn="1"/>
        </p:nvSpPr>
        <p:spPr>
          <a:xfrm>
            <a:off x="10529456" y="6553200"/>
            <a:ext cx="1663691" cy="3048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>
                <a:solidFill>
                  <a:srgbClr val="666666"/>
                </a:solidFill>
              </a:rPr>
              <a:t>MICROSOFT CONFIDENTIAL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113A430-F6A1-4E86-9240-781A33179C75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57200" y="1866900"/>
            <a:ext cx="11277599" cy="451404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053781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2">
            <a:extLst>
              <a:ext uri="{FF2B5EF4-FFF2-40B4-BE49-F238E27FC236}">
                <a16:creationId xmlns:a16="http://schemas.microsoft.com/office/drawing/2014/main" id="{9AFD44FB-5EE2-4D3E-9C7F-A0CA74B39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59436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Segoe Pro Semibold" charset="0"/>
                <a:ea typeface="Segoe Pro Semibold" charset="0"/>
                <a:cs typeface="Segoe Pro Semibold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C21BB0E-11FF-4849-A437-1A08AE905469}"/>
              </a:ext>
            </a:extLst>
          </p:cNvPr>
          <p:cNvSpPr>
            <a:spLocks noGrp="1"/>
          </p:cNvSpPr>
          <p:nvPr>
            <p:ph type="subTitle" idx="27"/>
          </p:nvPr>
        </p:nvSpPr>
        <p:spPr>
          <a:xfrm>
            <a:off x="457200" y="1051560"/>
            <a:ext cx="11277600" cy="685800"/>
          </a:xfrm>
        </p:spPr>
        <p:txBody>
          <a:bodyPr/>
          <a:lstStyle>
            <a:lvl1pPr marL="0" indent="0" algn="l">
              <a:buNone/>
              <a:defRPr sz="2400" b="1" i="0" spc="-60" baseline="0">
                <a:latin typeface="Segoe UI Semibold" charset="0"/>
                <a:ea typeface="Segoe UI Semibold" charset="0"/>
                <a:cs typeface="Segoe UI Semibold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8743FE-41B9-984E-A69D-ECABFEB0E74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BEB35CCB-FF49-4788-B761-7608AB55A0B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527732AA-D7B1-48A6-8C12-8974C5F0A104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111904" y="1866900"/>
            <a:ext cx="5622896" cy="451404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3475C84-786C-409E-B9CE-2261308DA6EF}"/>
              </a:ext>
            </a:extLst>
          </p:cNvPr>
          <p:cNvSpPr>
            <a:spLocks noGrp="1"/>
          </p:cNvSpPr>
          <p:nvPr>
            <p:ph idx="33"/>
          </p:nvPr>
        </p:nvSpPr>
        <p:spPr>
          <a:xfrm>
            <a:off x="465151" y="1866900"/>
            <a:ext cx="5646753" cy="451404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048598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386A6-1B24-F24E-ACF1-EA03F874140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29AFA16-AEC4-7D4A-82F3-BDAE8E4907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93970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Sub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599" cy="594360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D5C19BA-6DD0-2341-932F-962FA328D5D7}"/>
              </a:ext>
            </a:extLst>
          </p:cNvPr>
          <p:cNvSpPr>
            <a:spLocks noGrp="1"/>
          </p:cNvSpPr>
          <p:nvPr>
            <p:ph type="subTitle" idx="27"/>
          </p:nvPr>
        </p:nvSpPr>
        <p:spPr>
          <a:xfrm>
            <a:off x="457200" y="1051560"/>
            <a:ext cx="11277600" cy="685800"/>
          </a:xfrm>
        </p:spPr>
        <p:txBody>
          <a:bodyPr/>
          <a:lstStyle>
            <a:lvl1pPr marL="0" indent="0" algn="l">
              <a:buNone/>
              <a:defRPr sz="2400" b="1" i="0" spc="-60" baseline="0">
                <a:latin typeface="Segoe UI Semibold" charset="0"/>
                <a:ea typeface="Segoe UI Semibold" charset="0"/>
                <a:cs typeface="Segoe UI Semibold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386A6-1B24-F24E-ACF1-EA03F874140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529AFA16-AEC4-7D4A-82F3-BDAE8E4907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8684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1CBCB5-F62F-435C-A913-4F0A4C74D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33D83-E0D0-4532-0F83-02459B69F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98378-41B2-A437-33E7-ECD7AF4885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D9698-1D11-1543-ADE1-5BEB9308551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B905E-036D-43DB-2093-3A4826EFB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8D345-F4E0-7209-7AD7-621FD3214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61CCF4-0D91-3B47-AA6F-C4921ABA0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43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</a:t>
            </a:r>
          </a:p>
          <a:p>
            <a:pPr lvl="6"/>
            <a:r>
              <a:rPr lang="en-US"/>
              <a:t>Seven</a:t>
            </a:r>
          </a:p>
          <a:p>
            <a:pPr lvl="7"/>
            <a:r>
              <a:rPr lang="en-US"/>
              <a:t>Eight</a:t>
            </a:r>
          </a:p>
          <a:p>
            <a:pPr lvl="8"/>
            <a:r>
              <a:rPr lang="en-US"/>
              <a:t>nine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45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 descr="Ein Bild, das draußen, Gras, Himmel, Pflanze enthält.&#10;&#10;Beschreibung automatisch generiert.">
            <a:extLst>
              <a:ext uri="{FF2B5EF4-FFF2-40B4-BE49-F238E27FC236}">
                <a16:creationId xmlns:a16="http://schemas.microsoft.com/office/drawing/2014/main" id="{32CEF6C6-D0FB-C1E7-A808-E53736914C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91" r="13818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8668512" cy="3204134"/>
          </a:xfrm>
        </p:spPr>
        <p:txBody>
          <a:bodyPr anchor="b">
            <a:normAutofit/>
          </a:bodyPr>
          <a:lstStyle/>
          <a:p>
            <a:pPr algn="l"/>
            <a:r>
              <a:rPr lang="de-DE" sz="4000" dirty="0" err="1">
                <a:solidFill>
                  <a:schemeClr val="bg1"/>
                </a:solidFill>
                <a:cs typeface="Calibri Light"/>
              </a:rPr>
              <a:t>Navigating</a:t>
            </a:r>
            <a:r>
              <a:rPr lang="de-DE" sz="4000" dirty="0">
                <a:solidFill>
                  <a:schemeClr val="bg1"/>
                </a:solidFill>
                <a:cs typeface="Calibri Light"/>
              </a:rPr>
              <a:t> </a:t>
            </a:r>
            <a:r>
              <a:rPr lang="de-DE" sz="4000" dirty="0" err="1">
                <a:solidFill>
                  <a:schemeClr val="bg1"/>
                </a:solidFill>
                <a:cs typeface="Calibri Light"/>
              </a:rPr>
              <a:t>through</a:t>
            </a:r>
            <a:r>
              <a:rPr lang="de-DE" sz="4800" dirty="0">
                <a:solidFill>
                  <a:schemeClr val="bg1"/>
                </a:solidFill>
                <a:cs typeface="Calibri Light"/>
              </a:rPr>
              <a:t> </a:t>
            </a:r>
            <a:r>
              <a:rPr lang="de-DE" sz="4000" dirty="0" err="1">
                <a:solidFill>
                  <a:schemeClr val="bg1"/>
                </a:solidFill>
                <a:cs typeface="Calibri Light"/>
              </a:rPr>
              <a:t>the</a:t>
            </a:r>
            <a:br>
              <a:rPr lang="de-DE" sz="4000" dirty="0">
                <a:solidFill>
                  <a:schemeClr val="bg1"/>
                </a:solidFill>
                <a:cs typeface="Calibri Light"/>
              </a:rPr>
            </a:br>
            <a:r>
              <a:rPr lang="de-DE" sz="4800" dirty="0">
                <a:solidFill>
                  <a:schemeClr val="accent2"/>
                </a:solidFill>
                <a:cs typeface="Calibri Light"/>
              </a:rPr>
              <a:t>Azure Messaging</a:t>
            </a:r>
            <a:br>
              <a:rPr lang="de-DE" sz="4800" dirty="0">
                <a:solidFill>
                  <a:schemeClr val="accent2"/>
                </a:solidFill>
                <a:cs typeface="Calibri Light"/>
              </a:rPr>
            </a:br>
            <a:r>
              <a:rPr lang="de-DE" sz="4000" dirty="0">
                <a:solidFill>
                  <a:schemeClr val="bg1"/>
                </a:solidFill>
                <a:cs typeface="Calibri Light"/>
              </a:rPr>
              <a:t>(</a:t>
            </a:r>
            <a:r>
              <a:rPr lang="de-DE" sz="4000" dirty="0" err="1">
                <a:solidFill>
                  <a:schemeClr val="bg1"/>
                </a:solidFill>
                <a:cs typeface="Calibri Light"/>
              </a:rPr>
              <a:t>over</a:t>
            </a:r>
            <a:r>
              <a:rPr lang="de-DE" sz="4000" dirty="0">
                <a:solidFill>
                  <a:schemeClr val="bg1"/>
                </a:solidFill>
                <a:cs typeface="Calibri Light"/>
              </a:rPr>
              <a:t>)</a:t>
            </a:r>
            <a:r>
              <a:rPr lang="de-DE" sz="4000" dirty="0" err="1">
                <a:solidFill>
                  <a:schemeClr val="bg1"/>
                </a:solidFill>
                <a:cs typeface="Calibri Light"/>
              </a:rPr>
              <a:t>choice</a:t>
            </a:r>
            <a:endParaRPr lang="de-DE" sz="4800" dirty="0">
              <a:solidFill>
                <a:schemeClr val="bg1"/>
              </a:solidFill>
              <a:cs typeface="Calibri Light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de-DE" sz="2000" dirty="0" err="1">
                <a:solidFill>
                  <a:schemeClr val="accent2"/>
                </a:solidFill>
              </a:rPr>
              <a:t>daniel.marbach@particular.net</a:t>
            </a:r>
            <a:endParaRPr lang="de-DE" sz="2000" dirty="0">
              <a:solidFill>
                <a:schemeClr val="accent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33DA5C85-9FA4-1746-65F4-689C1EBA9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-1"/>
            <a:ext cx="9997440" cy="768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677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750671-0F9B-0268-3E74-3E55EA29B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00200"/>
            <a:ext cx="1206019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098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03A69E-77D8-D58D-3FDF-7FA7A9328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69670"/>
            <a:ext cx="12164463" cy="5318661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6C44AD07-018A-FE20-54B3-1B44D9172A15}"/>
              </a:ext>
            </a:extLst>
          </p:cNvPr>
          <p:cNvSpPr/>
          <p:nvPr/>
        </p:nvSpPr>
        <p:spPr>
          <a:xfrm>
            <a:off x="1752600" y="2921000"/>
            <a:ext cx="825500" cy="6985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16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4CB01D-ED5B-D745-02FA-D66354718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62" y="795070"/>
            <a:ext cx="12048276" cy="5267861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74F3B7E5-AAEC-7F09-9D10-5C795BF1AE25}"/>
              </a:ext>
            </a:extLst>
          </p:cNvPr>
          <p:cNvSpPr/>
          <p:nvPr/>
        </p:nvSpPr>
        <p:spPr>
          <a:xfrm>
            <a:off x="1727200" y="3873500"/>
            <a:ext cx="825500" cy="6985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37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D9FC6AC-4A12-4825-8ABE-0732B8EF4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4236C0-5D95-F348-E3E9-F604920DFA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6" r="1" b="40673"/>
          <a:stretch>
            <a:fillRect/>
          </a:stretch>
        </p:blipFill>
        <p:spPr>
          <a:xfrm>
            <a:off x="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16874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2F36F2-7B7D-570D-334B-9B47E793A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09760"/>
            <a:ext cx="12077700" cy="64384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AD474D-D445-D2D5-5F00-B946B1D47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 descr="Alarm Ringing with solid fill">
            <a:extLst>
              <a:ext uri="{FF2B5EF4-FFF2-40B4-BE49-F238E27FC236}">
                <a16:creationId xmlns:a16="http://schemas.microsoft.com/office/drawing/2014/main" id="{339F08AD-95DE-0920-00AD-364123E7C6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24100" y="4744244"/>
            <a:ext cx="914400" cy="914400"/>
          </a:xfr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850B46B7-13C1-5C25-A847-46DA1BE55ED4}"/>
              </a:ext>
            </a:extLst>
          </p:cNvPr>
          <p:cNvSpPr/>
          <p:nvPr/>
        </p:nvSpPr>
        <p:spPr>
          <a:xfrm>
            <a:off x="7991475" y="3200400"/>
            <a:ext cx="619125" cy="3048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080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70B758A-9E99-1A28-C8BC-1D11D83E44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100"/>
          <a:stretch/>
        </p:blipFill>
        <p:spPr>
          <a:xfrm>
            <a:off x="642937" y="4822"/>
            <a:ext cx="10515599" cy="6853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CF24E0-E9BC-84DC-1438-CE2B0E25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71935-30DD-ECF8-0C2D-6DE16BF95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44ACCF-BEA7-0B93-E691-2C882EBE9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384425"/>
            <a:ext cx="12145043" cy="407339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1F99012-9DC9-FEE8-AEF0-47BD416C3C74}"/>
              </a:ext>
            </a:extLst>
          </p:cNvPr>
          <p:cNvGrpSpPr/>
          <p:nvPr/>
        </p:nvGrpSpPr>
        <p:grpSpPr>
          <a:xfrm>
            <a:off x="642937" y="0"/>
            <a:ext cx="10906125" cy="6858224"/>
            <a:chOff x="642937" y="0"/>
            <a:chExt cx="10906125" cy="685822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E4B6277-361C-793B-4C6A-64A60AD44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2937" y="0"/>
              <a:ext cx="10906125" cy="6858224"/>
            </a:xfrm>
            <a:prstGeom prst="rect">
              <a:avLst/>
            </a:prstGeom>
          </p:spPr>
        </p:pic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35E121BC-B901-3B78-09CA-D77D60134FC9}"/>
                </a:ext>
              </a:extLst>
            </p:cNvPr>
            <p:cNvSpPr/>
            <p:nvPr/>
          </p:nvSpPr>
          <p:spPr>
            <a:xfrm>
              <a:off x="2476500" y="5727586"/>
              <a:ext cx="981075" cy="584314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redeploy</a:t>
              </a:r>
              <a:endParaRPr lang="en-US" sz="700" dirty="0"/>
            </a:p>
          </p:txBody>
        </p:sp>
        <p:sp>
          <p:nvSpPr>
            <p:cNvPr id="8" name="Right Arrow 7">
              <a:extLst>
                <a:ext uri="{FF2B5EF4-FFF2-40B4-BE49-F238E27FC236}">
                  <a16:creationId xmlns:a16="http://schemas.microsoft.com/office/drawing/2014/main" id="{3B29DE58-DAD7-6299-315B-455F234405BB}"/>
                </a:ext>
              </a:extLst>
            </p:cNvPr>
            <p:cNvSpPr/>
            <p:nvPr/>
          </p:nvSpPr>
          <p:spPr>
            <a:xfrm rot="1704765">
              <a:off x="3537501" y="4199510"/>
              <a:ext cx="981075" cy="584314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redeploy</a:t>
              </a:r>
              <a:endParaRPr lang="en-US" sz="700" dirty="0"/>
            </a:p>
          </p:txBody>
        </p:sp>
        <p:sp>
          <p:nvSpPr>
            <p:cNvPr id="9" name="Right Arrow 8">
              <a:extLst>
                <a:ext uri="{FF2B5EF4-FFF2-40B4-BE49-F238E27FC236}">
                  <a16:creationId xmlns:a16="http://schemas.microsoft.com/office/drawing/2014/main" id="{249A0CC4-428A-3A9D-4686-6BF9637D1250}"/>
                </a:ext>
              </a:extLst>
            </p:cNvPr>
            <p:cNvSpPr/>
            <p:nvPr/>
          </p:nvSpPr>
          <p:spPr>
            <a:xfrm>
              <a:off x="4750902" y="4199510"/>
              <a:ext cx="981075" cy="584314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redeploy</a:t>
              </a:r>
              <a:endParaRPr lang="en-US" sz="700" dirty="0"/>
            </a:p>
          </p:txBody>
        </p:sp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5C0A5136-6E2F-6503-A894-5D2F7C35261B}"/>
                </a:ext>
              </a:extLst>
            </p:cNvPr>
            <p:cNvSpPr/>
            <p:nvPr/>
          </p:nvSpPr>
          <p:spPr>
            <a:xfrm>
              <a:off x="4919661" y="1514305"/>
              <a:ext cx="981075" cy="584314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Finally!</a:t>
              </a:r>
              <a:endParaRPr 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6958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762D0-821B-E720-6CEF-2AD6BBE6C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BD2E32-8BA9-07F5-42DA-1F155D923A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6" r="1" b="40673"/>
          <a:stretch>
            <a:fillRect/>
          </a:stretch>
        </p:blipFill>
        <p:spPr>
          <a:xfrm>
            <a:off x="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36816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FDA8E3-6B43-24FA-86F2-B79E39CC5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00" y="-6227"/>
            <a:ext cx="9093200" cy="686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720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D50E5D-B294-F5E6-0F5F-6A5C011B2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420" y="50800"/>
            <a:ext cx="9187161" cy="6807200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4E1E9D0B-9493-107B-63E9-9BFC35460881}"/>
              </a:ext>
            </a:extLst>
          </p:cNvPr>
          <p:cNvSpPr/>
          <p:nvPr/>
        </p:nvSpPr>
        <p:spPr>
          <a:xfrm rot="10800000">
            <a:off x="10249467" y="4001164"/>
            <a:ext cx="1312649" cy="8382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282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C25C90-D6BE-D216-BBCE-6AB4E9330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650" y="-1"/>
            <a:ext cx="7632700" cy="6813081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819F6C44-02BE-F091-46FF-9DEE1546185B}"/>
              </a:ext>
            </a:extLst>
          </p:cNvPr>
          <p:cNvSpPr/>
          <p:nvPr/>
        </p:nvSpPr>
        <p:spPr>
          <a:xfrm rot="16200000">
            <a:off x="8996719" y="5434179"/>
            <a:ext cx="1312649" cy="8382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154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4637B2-E5A8-159C-A28F-C17090BB2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0" y="50799"/>
            <a:ext cx="7366000" cy="6803319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23A4C5B7-BBFC-8898-AEBE-A42A996F5A0F}"/>
              </a:ext>
            </a:extLst>
          </p:cNvPr>
          <p:cNvSpPr/>
          <p:nvPr/>
        </p:nvSpPr>
        <p:spPr>
          <a:xfrm rot="10800000">
            <a:off x="8466351" y="1899408"/>
            <a:ext cx="1312649" cy="8382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11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D8D761-E9AC-DB11-C288-BED189BBA4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14"/>
          <a:stretch>
            <a:fillRect/>
          </a:stretch>
        </p:blipFill>
        <p:spPr>
          <a:xfrm>
            <a:off x="1358004" y="165100"/>
            <a:ext cx="9475992" cy="6527800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C8C6323D-2498-7713-6C50-D962AA90B78F}"/>
              </a:ext>
            </a:extLst>
          </p:cNvPr>
          <p:cNvSpPr/>
          <p:nvPr/>
        </p:nvSpPr>
        <p:spPr>
          <a:xfrm>
            <a:off x="191068" y="4342358"/>
            <a:ext cx="1312649" cy="8382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60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CFA4FD-DCCA-56A1-D102-CAB94DE082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54"/>
          <a:stretch>
            <a:fillRect/>
          </a:stretch>
        </p:blipFill>
        <p:spPr>
          <a:xfrm>
            <a:off x="3371850" y="219288"/>
            <a:ext cx="5448300" cy="6419425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25CE205C-0046-E93A-49F4-010DC1AAC000}"/>
              </a:ext>
            </a:extLst>
          </p:cNvPr>
          <p:cNvSpPr/>
          <p:nvPr/>
        </p:nvSpPr>
        <p:spPr>
          <a:xfrm>
            <a:off x="3616656" y="3659970"/>
            <a:ext cx="1312649" cy="8382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161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503DF7-E7CA-73D9-4148-D7B113503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116" y="1422400"/>
            <a:ext cx="12213116" cy="4038600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0D098E73-C269-CF32-B7A1-4D8DAC1BBDE2}"/>
              </a:ext>
            </a:extLst>
          </p:cNvPr>
          <p:cNvSpPr/>
          <p:nvPr/>
        </p:nvSpPr>
        <p:spPr>
          <a:xfrm rot="5400000">
            <a:off x="9391650" y="1339850"/>
            <a:ext cx="1612900" cy="8382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16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98E9AD-DFC8-0B7B-B910-E71A1D6BF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00" y="59101"/>
            <a:ext cx="9728200" cy="6739799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425FE7D5-E60F-6FE5-B8D3-FE212494BC5C}"/>
              </a:ext>
            </a:extLst>
          </p:cNvPr>
          <p:cNvSpPr/>
          <p:nvPr/>
        </p:nvSpPr>
        <p:spPr>
          <a:xfrm>
            <a:off x="3507474" y="5857259"/>
            <a:ext cx="1312649" cy="8382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80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 of a system&#10;&#10;AI-generated content may be incorrect.">
            <a:extLst>
              <a:ext uri="{FF2B5EF4-FFF2-40B4-BE49-F238E27FC236}">
                <a16:creationId xmlns:a16="http://schemas.microsoft.com/office/drawing/2014/main" id="{880F0360-B21D-C779-CE5E-4F74BD0A0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50" y="-1"/>
            <a:ext cx="9994900" cy="716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174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06E5DD-EA35-9CC8-95D2-AF1CD1A08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3650"/>
            <a:ext cx="12192000" cy="5330701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D34E1C90-9896-BC4F-C5BD-E675FB219617}"/>
              </a:ext>
            </a:extLst>
          </p:cNvPr>
          <p:cNvSpPr/>
          <p:nvPr/>
        </p:nvSpPr>
        <p:spPr>
          <a:xfrm>
            <a:off x="6540500" y="2578100"/>
            <a:ext cx="825500" cy="6985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299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9651FE59-B8D1-C666-3C88-C41F98C46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225" y="-1"/>
            <a:ext cx="9353550" cy="689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77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27AB7C-6CCC-AEFC-CE89-3D660D232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14" y="85299"/>
            <a:ext cx="9652572" cy="668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51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3B0E15-D274-5181-2A0D-C395EDB2A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45" y="0"/>
            <a:ext cx="11613311" cy="6858000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C4EE4DA8-ADC1-564D-B5AA-5B461C358EBC}"/>
              </a:ext>
            </a:extLst>
          </p:cNvPr>
          <p:cNvSpPr/>
          <p:nvPr/>
        </p:nvSpPr>
        <p:spPr>
          <a:xfrm>
            <a:off x="2988860" y="4301415"/>
            <a:ext cx="930511" cy="8382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29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4BBB14-69A2-1A7E-052C-F35ACECAC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45" y="0"/>
            <a:ext cx="11613311" cy="6858000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31B0824E-678E-6A2C-2BDD-3D7598F93D5C}"/>
              </a:ext>
            </a:extLst>
          </p:cNvPr>
          <p:cNvSpPr/>
          <p:nvPr/>
        </p:nvSpPr>
        <p:spPr>
          <a:xfrm>
            <a:off x="3002508" y="3497240"/>
            <a:ext cx="985102" cy="8382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4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363F17-69D2-C808-8F45-A144AECE9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642" y="0"/>
            <a:ext cx="9704717" cy="6858000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69DD08BA-F9AC-886B-2390-71DBBD3FDA02}"/>
              </a:ext>
            </a:extLst>
          </p:cNvPr>
          <p:cNvSpPr/>
          <p:nvPr/>
        </p:nvSpPr>
        <p:spPr>
          <a:xfrm rot="16200000">
            <a:off x="10058400" y="5447826"/>
            <a:ext cx="1312649" cy="8382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415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F784A9-69C0-3881-0E7F-3568F829E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880" y="0"/>
            <a:ext cx="12319760" cy="6858000"/>
          </a:xfrm>
          <a:prstGeom prst="rect">
            <a:avLst/>
          </a:prstGeom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94D075A4-D1E5-F92A-4C4B-BC828058558B}"/>
              </a:ext>
            </a:extLst>
          </p:cNvPr>
          <p:cNvSpPr/>
          <p:nvPr/>
        </p:nvSpPr>
        <p:spPr>
          <a:xfrm rot="10800000">
            <a:off x="9157648" y="3619026"/>
            <a:ext cx="1312649" cy="8382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08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51D726-71BF-97DC-C25E-58A7F4BF9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00" y="683480"/>
            <a:ext cx="10949201" cy="5491041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328BD24F-D93C-5739-5C05-75F28C9F5755}"/>
              </a:ext>
            </a:extLst>
          </p:cNvPr>
          <p:cNvSpPr/>
          <p:nvPr/>
        </p:nvSpPr>
        <p:spPr>
          <a:xfrm rot="12877950">
            <a:off x="3432222" y="5475122"/>
            <a:ext cx="1312649" cy="8382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317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EA0B5E-8668-C3DF-272E-966CD653B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012" y="0"/>
            <a:ext cx="8089976" cy="6858000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A64BF07E-F891-8E91-5368-190A141EF552}"/>
              </a:ext>
            </a:extLst>
          </p:cNvPr>
          <p:cNvSpPr/>
          <p:nvPr/>
        </p:nvSpPr>
        <p:spPr>
          <a:xfrm>
            <a:off x="3903260" y="5311350"/>
            <a:ext cx="930511" cy="8382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417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C7CEA7-9C7C-97A0-6DB7-62D660D7A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11" y="713096"/>
            <a:ext cx="11318979" cy="5431809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69A6FACD-A84A-1A74-29D5-FDE0B3737FF1}"/>
              </a:ext>
            </a:extLst>
          </p:cNvPr>
          <p:cNvSpPr/>
          <p:nvPr/>
        </p:nvSpPr>
        <p:spPr>
          <a:xfrm rot="12851511">
            <a:off x="3439236" y="5365939"/>
            <a:ext cx="1312649" cy="8382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175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0CCB87-710D-0164-9247-6CFFD7811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3787"/>
            <a:ext cx="12242021" cy="5750427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AAF0BB0E-CBFC-DC8F-1FA5-B9EC93F897A6}"/>
              </a:ext>
            </a:extLst>
          </p:cNvPr>
          <p:cNvSpPr/>
          <p:nvPr/>
        </p:nvSpPr>
        <p:spPr>
          <a:xfrm rot="12851511">
            <a:off x="2620370" y="4983802"/>
            <a:ext cx="1312649" cy="8382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321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9F516C-3D1C-7651-9DB1-F3D7BC325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328" y="-1"/>
            <a:ext cx="8577345" cy="6701051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796ED1C8-0DB5-9868-867C-EDFCA9B17B62}"/>
              </a:ext>
            </a:extLst>
          </p:cNvPr>
          <p:cNvSpPr/>
          <p:nvPr/>
        </p:nvSpPr>
        <p:spPr>
          <a:xfrm rot="19063961">
            <a:off x="4408227" y="1271612"/>
            <a:ext cx="930511" cy="8382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499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ADD6C9-6CEF-CF7F-25BD-647275B3D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381" y="724"/>
            <a:ext cx="6643238" cy="685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6226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A1935E-1C49-461A-83A5-70B06EB97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133" y="-1"/>
            <a:ext cx="5173734" cy="6844177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BDF1B6FF-960D-259C-7BA8-5E4695C85D0D}"/>
              </a:ext>
            </a:extLst>
          </p:cNvPr>
          <p:cNvSpPr/>
          <p:nvPr/>
        </p:nvSpPr>
        <p:spPr>
          <a:xfrm rot="19063961">
            <a:off x="5322628" y="971361"/>
            <a:ext cx="930511" cy="8382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787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C95F6B-C754-7963-92DE-8D0765ED3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110" y="109846"/>
            <a:ext cx="8385781" cy="6748154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CAAAA3E1-770B-317D-9984-57644D0E2BBE}"/>
              </a:ext>
            </a:extLst>
          </p:cNvPr>
          <p:cNvSpPr/>
          <p:nvPr/>
        </p:nvSpPr>
        <p:spPr>
          <a:xfrm>
            <a:off x="3875965" y="2022239"/>
            <a:ext cx="930511" cy="8382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93E3E35E-7B97-B3DB-F59F-24621FB02885}"/>
              </a:ext>
            </a:extLst>
          </p:cNvPr>
          <p:cNvSpPr/>
          <p:nvPr/>
        </p:nvSpPr>
        <p:spPr>
          <a:xfrm rot="7402037">
            <a:off x="5168129" y="4942861"/>
            <a:ext cx="930511" cy="8382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6962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12BFC5-E1CB-63F6-3369-DC0942FF4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837" y="0"/>
            <a:ext cx="6732327" cy="686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4525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221F8-030F-747A-F834-C12619FDB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BC4A7C-7536-AA84-29AC-C8472FA0C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6" r="1" b="40673"/>
          <a:stretch>
            <a:fillRect/>
          </a:stretch>
        </p:blipFill>
        <p:spPr>
          <a:xfrm>
            <a:off x="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522453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5F51602C-88BC-B1B2-C443-C1818E128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" y="76200"/>
            <a:ext cx="12192000" cy="742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2916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637E9-87C1-DA39-A58F-D4C374029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92E6E8-F2B6-7BB9-09FF-866B907B9E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6" r="1" b="40673"/>
          <a:stretch>
            <a:fillRect/>
          </a:stretch>
        </p:blipFill>
        <p:spPr>
          <a:xfrm>
            <a:off x="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37700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ystem&#10;&#10;AI-generated content may be incorrect.">
            <a:extLst>
              <a:ext uri="{FF2B5EF4-FFF2-40B4-BE49-F238E27FC236}">
                <a16:creationId xmlns:a16="http://schemas.microsoft.com/office/drawing/2014/main" id="{02581BC0-B011-B4CA-05E5-A3E5BE733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9" y="152400"/>
            <a:ext cx="12073562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251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EF357-99AA-9818-92BA-90FFC3EC7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65A500-04EA-1714-3B76-AC49A46FB2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6" r="1" b="40673"/>
          <a:stretch>
            <a:fillRect/>
          </a:stretch>
        </p:blipFill>
        <p:spPr>
          <a:xfrm>
            <a:off x="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435280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412CDD3-368B-4ECD-861B-623E8CAF404B}"/>
              </a:ext>
            </a:extLst>
          </p:cNvPr>
          <p:cNvSpPr/>
          <p:nvPr/>
        </p:nvSpPr>
        <p:spPr>
          <a:xfrm>
            <a:off x="2274104" y="314337"/>
            <a:ext cx="2853689" cy="6400783"/>
          </a:xfrm>
          <a:prstGeom prst="rect">
            <a:avLst/>
          </a:prstGeom>
          <a:solidFill>
            <a:schemeClr val="accent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3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2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Serverless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849BBD-AB5A-4E3C-87CD-BC3366449FF1}"/>
              </a:ext>
            </a:extLst>
          </p:cNvPr>
          <p:cNvSpPr/>
          <p:nvPr/>
        </p:nvSpPr>
        <p:spPr>
          <a:xfrm>
            <a:off x="5127793" y="314339"/>
            <a:ext cx="3201353" cy="6400784"/>
          </a:xfrm>
          <a:prstGeom prst="rect">
            <a:avLst/>
          </a:prstGeom>
          <a:solidFill>
            <a:schemeClr val="accent6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3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2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Streaming Data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6C6FC-5150-4B77-A743-CEF0A65885F0}"/>
              </a:ext>
            </a:extLst>
          </p:cNvPr>
          <p:cNvSpPr/>
          <p:nvPr/>
        </p:nvSpPr>
        <p:spPr>
          <a:xfrm>
            <a:off x="8329147" y="314339"/>
            <a:ext cx="3567578" cy="6400785"/>
          </a:xfrm>
          <a:prstGeom prst="rect">
            <a:avLst/>
          </a:prstGeom>
          <a:solidFill>
            <a:schemeClr val="accent3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3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2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Enterprise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22B526-4E81-4E51-B492-B7EDAC4985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4816354"/>
              </p:ext>
            </p:extLst>
          </p:nvPr>
        </p:nvGraphicFramePr>
        <p:xfrm>
          <a:off x="454933" y="314341"/>
          <a:ext cx="11282135" cy="6229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0416">
                  <a:extLst>
                    <a:ext uri="{9D8B030D-6E8A-4147-A177-3AD203B41FA5}">
                      <a16:colId xmlns:a16="http://schemas.microsoft.com/office/drawing/2014/main" val="1582576505"/>
                    </a:ext>
                  </a:extLst>
                </a:gridCol>
                <a:gridCol w="2687819">
                  <a:extLst>
                    <a:ext uri="{9D8B030D-6E8A-4147-A177-3AD203B41FA5}">
                      <a16:colId xmlns:a16="http://schemas.microsoft.com/office/drawing/2014/main" val="2659572726"/>
                    </a:ext>
                  </a:extLst>
                </a:gridCol>
                <a:gridCol w="3158386">
                  <a:extLst>
                    <a:ext uri="{9D8B030D-6E8A-4147-A177-3AD203B41FA5}">
                      <a16:colId xmlns:a16="http://schemas.microsoft.com/office/drawing/2014/main" val="3602601879"/>
                    </a:ext>
                  </a:extLst>
                </a:gridCol>
                <a:gridCol w="3445514">
                  <a:extLst>
                    <a:ext uri="{9D8B030D-6E8A-4147-A177-3AD203B41FA5}">
                      <a16:colId xmlns:a16="http://schemas.microsoft.com/office/drawing/2014/main" val="3639380612"/>
                    </a:ext>
                  </a:extLst>
                </a:gridCol>
              </a:tblGrid>
              <a:tr h="438674">
                <a:tc>
                  <a:txBody>
                    <a:bodyPr/>
                    <a:lstStyle/>
                    <a:p>
                      <a:r>
                        <a:rPr lang="en-US" sz="1900" b="1" dirty="0"/>
                        <a:t>Segment</a:t>
                      </a:r>
                    </a:p>
                  </a:txBody>
                  <a:tcPr marL="91427" marR="91427" marT="45713" marB="45713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 err="1"/>
                        <a:t>Eventing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PubSub</a:t>
                      </a:r>
                      <a:endParaRPr lang="en-US" sz="1800" b="1" dirty="0"/>
                    </a:p>
                  </a:txBody>
                  <a:tcPr marL="91427" marR="91427" marT="45713" marB="45713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/>
                        <a:t>Streaming</a:t>
                      </a:r>
                      <a:endParaRPr lang="en-US" sz="1800" b="1" dirty="0"/>
                    </a:p>
                  </a:txBody>
                  <a:tcPr marL="91427" marR="91427" marT="45713" marB="45713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Enterprise Messaging</a:t>
                      </a:r>
                    </a:p>
                  </a:txBody>
                  <a:tcPr marL="91427" marR="91427" marT="45713" marB="45713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751522"/>
                  </a:ext>
                </a:extLst>
              </a:tr>
              <a:tr h="4211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Product</a:t>
                      </a:r>
                    </a:p>
                  </a:txBody>
                  <a:tcPr marL="91427" marR="91427" marT="45713" marB="45713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Event Grid</a:t>
                      </a:r>
                    </a:p>
                  </a:txBody>
                  <a:tcPr marL="91427" marR="91427" marT="45713" marB="45713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Event Hubs</a:t>
                      </a:r>
                    </a:p>
                  </a:txBody>
                  <a:tcPr marL="91427" marR="91427" marT="45713" marB="45713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Service Bus</a:t>
                      </a:r>
                    </a:p>
                  </a:txBody>
                  <a:tcPr marL="91427" marR="91427" marT="45713" marB="45713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989973"/>
                  </a:ext>
                </a:extLst>
              </a:tr>
              <a:tr h="31936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What do you care about</a:t>
                      </a:r>
                    </a:p>
                    <a:p>
                      <a:endParaRPr lang="en-US" sz="1800" dirty="0"/>
                    </a:p>
                  </a:txBody>
                  <a:tcPr marL="91427" marR="91427" marT="45713" marB="45713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Communication between apps / orgs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Individual message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Push and pull semantics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Filtering and routing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Pay as you go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Fan out</a:t>
                      </a:r>
                    </a:p>
                  </a:txBody>
                  <a:tcPr marL="91427" marR="91427" marT="45713" marB="45713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Many messages in a Stream (think in MBs)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Ease of use and operation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Low cost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Fan in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Strict ordering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Kafka compliant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Works with other tools</a:t>
                      </a:r>
                    </a:p>
                  </a:txBody>
                  <a:tcPr marL="91427" marR="91427" marT="45713" marB="45713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Instantaneous consistency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Strict ordering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JMS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Non-repudiation &amp; Security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Geo-Replication &amp; Availability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Rich features (de-dupe, scheduling, etc.)</a:t>
                      </a:r>
                    </a:p>
                  </a:txBody>
                  <a:tcPr marL="91427" marR="91427" marT="45713" marB="45713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242750"/>
                  </a:ext>
                </a:extLst>
              </a:tr>
              <a:tr h="1228316">
                <a:tc>
                  <a:txBody>
                    <a:bodyPr/>
                    <a:lstStyle/>
                    <a:p>
                      <a:r>
                        <a:rPr lang="en-US" sz="1800" dirty="0"/>
                        <a:t>What you care less about</a:t>
                      </a:r>
                    </a:p>
                  </a:txBody>
                  <a:tcPr marL="91427" marR="91427" marT="45713" marB="45713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Ordering of messaging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Instantaneous consistency</a:t>
                      </a:r>
                    </a:p>
                  </a:txBody>
                  <a:tcPr marL="91427" marR="91427" marT="45713" marB="45713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Individual message semantics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Server-side cursor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Only Once</a:t>
                      </a:r>
                    </a:p>
                  </a:txBody>
                  <a:tcPr marL="91427" marR="91427" marT="45713" marB="45713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Cost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Simplicity</a:t>
                      </a:r>
                    </a:p>
                  </a:txBody>
                  <a:tcPr marL="91427" marR="91427" marT="45713" marB="45713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0995228"/>
                  </a:ext>
                </a:extLst>
              </a:tr>
              <a:tr h="947555">
                <a:tc>
                  <a:txBody>
                    <a:bodyPr/>
                    <a:lstStyle/>
                    <a:p>
                      <a:r>
                        <a:rPr lang="en-US" sz="1900" dirty="0"/>
                        <a:t>Focus point</a:t>
                      </a:r>
                      <a:endParaRPr lang="en-US" sz="1800" dirty="0"/>
                    </a:p>
                  </a:txBody>
                  <a:tcPr marL="91427" marR="91427" marT="45713" marB="45713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Reliable fan out push at massive scale</a:t>
                      </a:r>
                    </a:p>
                  </a:txBody>
                  <a:tcPr marL="91427" marR="91427" marT="45713" marB="45713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High scale distributed log</a:t>
                      </a:r>
                    </a:p>
                  </a:txBody>
                  <a:tcPr marL="91427" marR="91427" marT="45713" marB="45713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Highly indexed full featured message broker</a:t>
                      </a:r>
                    </a:p>
                  </a:txBody>
                  <a:tcPr marL="91427" marR="91427" marT="45713" marB="45713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33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269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D90B0B-1E35-7F66-AC33-37FBC951D0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21934" r="9089" b="6143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818581-331C-1249-8681-E5D0A4675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accent2"/>
                </a:solidFill>
                <a:cs typeface="Calibri Light"/>
              </a:rPr>
              <a:t>Use all of them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9322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716E67-042F-6A02-2452-A2471D21B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9183" y="-95536"/>
            <a:ext cx="12301183" cy="7038399"/>
          </a:xfrm>
          <a:prstGeom prst="rect">
            <a:avLst/>
          </a:prstGeom>
          <a:solidFill>
            <a:srgbClr val="1A1A1A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73F2FD-8CBF-B74F-80CA-0CDE4A011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CA52D53-B467-5275-61AD-5425F395B6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/>
          <a:stretch/>
        </p:blipFill>
        <p:spPr>
          <a:xfrm>
            <a:off x="1190778" y="3614926"/>
            <a:ext cx="2671537" cy="267153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D83A76-513A-0663-4EE9-6821D7A920D8}"/>
              </a:ext>
            </a:extLst>
          </p:cNvPr>
          <p:cNvSpPr txBox="1"/>
          <p:nvPr/>
        </p:nvSpPr>
        <p:spPr>
          <a:xfrm>
            <a:off x="4176215" y="2992288"/>
            <a:ext cx="7301552" cy="148417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</a:rPr>
              <a:t>go.particular.net</a:t>
            </a:r>
            <a:r>
              <a:rPr lang="en-US" sz="4400" dirty="0">
                <a:solidFill>
                  <a:schemeClr val="bg1"/>
                </a:solidFill>
              </a:rPr>
              <a:t>/</a:t>
            </a:r>
            <a:br>
              <a:rPr lang="en-US" sz="4400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ndc-oslo-2025-azure-apps</a:t>
            </a:r>
          </a:p>
        </p:txBody>
      </p:sp>
    </p:spTree>
    <p:extLst>
      <p:ext uri="{BB962C8B-B14F-4D97-AF65-F5344CB8AC3E}">
        <p14:creationId xmlns:p14="http://schemas.microsoft.com/office/powerpoint/2010/main" val="31408788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FEC10-B7C3-E143-03BE-907657237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7809D7-6DCF-EA4C-81DF-1891183AA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381B26-BEFA-9C27-3F69-F62C8F964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CC41CB-22F6-C1AA-5EFC-07F81BCF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0" y="1122363"/>
            <a:ext cx="10515599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>
                <a:solidFill>
                  <a:schemeClr val="accent2"/>
                </a:solidFill>
                <a:cs typeface="Calibri Light"/>
              </a:rPr>
              <a:t>github.com</a:t>
            </a:r>
            <a:r>
              <a:rPr lang="en-US" sz="4800" dirty="0">
                <a:solidFill>
                  <a:schemeClr val="accent2"/>
                </a:solidFill>
                <a:cs typeface="Calibri Light"/>
              </a:rPr>
              <a:t>/</a:t>
            </a:r>
            <a:r>
              <a:rPr lang="en-US" sz="4800" dirty="0" err="1">
                <a:solidFill>
                  <a:schemeClr val="accent2"/>
                </a:solidFill>
                <a:cs typeface="Calibri Light"/>
              </a:rPr>
              <a:t>danielmarbach</a:t>
            </a:r>
            <a:r>
              <a:rPr lang="en-US" sz="4800" dirty="0">
                <a:solidFill>
                  <a:schemeClr val="accent2"/>
                </a:solidFill>
                <a:cs typeface="Calibri Light"/>
              </a:rPr>
              <a:t>/</a:t>
            </a:r>
            <a:br>
              <a:rPr lang="en-US" sz="4800" dirty="0">
                <a:solidFill>
                  <a:schemeClr val="accent2"/>
                </a:solidFill>
                <a:cs typeface="Calibri Light"/>
              </a:rPr>
            </a:br>
            <a:r>
              <a:rPr lang="en-US" sz="4800" dirty="0" err="1">
                <a:solidFill>
                  <a:schemeClr val="accent2"/>
                </a:solidFill>
                <a:cs typeface="Calibri Light"/>
              </a:rPr>
              <a:t>AzureMessagingOverchoice</a:t>
            </a:r>
            <a:endParaRPr lang="en-US" sz="4800" dirty="0">
              <a:solidFill>
                <a:schemeClr val="accent2"/>
              </a:solidFill>
              <a:cs typeface="Calibri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48096C-AD56-3C92-3AA8-9B79E245A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AA3A20-C3AE-5F8B-AC57-65DACE1A9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 descr="A qr code on a black background&#10;&#10;AI-generated content may be incorrect.">
            <a:extLst>
              <a:ext uri="{FF2B5EF4-FFF2-40B4-BE49-F238E27FC236}">
                <a16:creationId xmlns:a16="http://schemas.microsoft.com/office/drawing/2014/main" id="{4FD1223E-3BD0-1AE9-B286-095B78602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6671" y="1566850"/>
            <a:ext cx="3724300" cy="37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520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79CB1-A0C6-5F0C-21B9-923F5F79E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ABB969D-7392-0A12-9426-1AF77E453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Grafik 3" descr="Ein Bild, das draußen, Gras, Himmel, Pflanze enthält.&#10;&#10;Beschreibung automatisch generiert.">
            <a:extLst>
              <a:ext uri="{FF2B5EF4-FFF2-40B4-BE49-F238E27FC236}">
                <a16:creationId xmlns:a16="http://schemas.microsoft.com/office/drawing/2014/main" id="{E39707B5-D69D-E730-99A8-822876B55F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91" r="13818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C12604-4097-27BC-BCEE-F13305193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9EF835-7D18-37AB-CE54-F2B8F78AE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8668512" cy="3204134"/>
          </a:xfrm>
        </p:spPr>
        <p:txBody>
          <a:bodyPr anchor="b">
            <a:normAutofit/>
          </a:bodyPr>
          <a:lstStyle/>
          <a:p>
            <a:pPr algn="l"/>
            <a:r>
              <a:rPr lang="de-DE" sz="4000" dirty="0" err="1">
                <a:solidFill>
                  <a:schemeClr val="bg1"/>
                </a:solidFill>
                <a:cs typeface="Calibri Light"/>
              </a:rPr>
              <a:t>Navigating</a:t>
            </a:r>
            <a:r>
              <a:rPr lang="de-DE" sz="4000" dirty="0">
                <a:solidFill>
                  <a:schemeClr val="bg1"/>
                </a:solidFill>
                <a:cs typeface="Calibri Light"/>
              </a:rPr>
              <a:t> </a:t>
            </a:r>
            <a:r>
              <a:rPr lang="de-DE" sz="4000" dirty="0" err="1">
                <a:solidFill>
                  <a:schemeClr val="bg1"/>
                </a:solidFill>
                <a:cs typeface="Calibri Light"/>
              </a:rPr>
              <a:t>through</a:t>
            </a:r>
            <a:r>
              <a:rPr lang="de-DE" sz="4800" dirty="0">
                <a:solidFill>
                  <a:schemeClr val="bg1"/>
                </a:solidFill>
                <a:cs typeface="Calibri Light"/>
              </a:rPr>
              <a:t> </a:t>
            </a:r>
            <a:r>
              <a:rPr lang="de-DE" sz="4000" dirty="0" err="1">
                <a:solidFill>
                  <a:schemeClr val="bg1"/>
                </a:solidFill>
                <a:cs typeface="Calibri Light"/>
              </a:rPr>
              <a:t>the</a:t>
            </a:r>
            <a:br>
              <a:rPr lang="de-DE" sz="4000" dirty="0">
                <a:solidFill>
                  <a:schemeClr val="bg1"/>
                </a:solidFill>
                <a:cs typeface="Calibri Light"/>
              </a:rPr>
            </a:br>
            <a:r>
              <a:rPr lang="de-DE" sz="4800" dirty="0">
                <a:solidFill>
                  <a:schemeClr val="accent2"/>
                </a:solidFill>
                <a:cs typeface="Calibri Light"/>
              </a:rPr>
              <a:t>Azure Messaging</a:t>
            </a:r>
            <a:br>
              <a:rPr lang="de-DE" sz="4800" dirty="0">
                <a:solidFill>
                  <a:schemeClr val="accent2"/>
                </a:solidFill>
                <a:cs typeface="Calibri Light"/>
              </a:rPr>
            </a:br>
            <a:r>
              <a:rPr lang="de-DE" sz="4000" dirty="0">
                <a:solidFill>
                  <a:schemeClr val="bg1"/>
                </a:solidFill>
                <a:cs typeface="Calibri Light"/>
              </a:rPr>
              <a:t>(</a:t>
            </a:r>
            <a:r>
              <a:rPr lang="de-DE" sz="4000" dirty="0" err="1">
                <a:solidFill>
                  <a:schemeClr val="bg1"/>
                </a:solidFill>
                <a:cs typeface="Calibri Light"/>
              </a:rPr>
              <a:t>over</a:t>
            </a:r>
            <a:r>
              <a:rPr lang="de-DE" sz="4000" dirty="0">
                <a:solidFill>
                  <a:schemeClr val="bg1"/>
                </a:solidFill>
                <a:cs typeface="Calibri Light"/>
              </a:rPr>
              <a:t>)</a:t>
            </a:r>
            <a:r>
              <a:rPr lang="de-DE" sz="4000" dirty="0" err="1">
                <a:solidFill>
                  <a:schemeClr val="bg1"/>
                </a:solidFill>
                <a:cs typeface="Calibri Light"/>
              </a:rPr>
              <a:t>choice</a:t>
            </a:r>
            <a:endParaRPr lang="de-DE" sz="4800" dirty="0">
              <a:solidFill>
                <a:schemeClr val="bg1"/>
              </a:solidFill>
              <a:cs typeface="Calibri Light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362D6A0-71D7-F8C8-E861-29364BA35D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de-DE" sz="2000" dirty="0" err="1">
                <a:solidFill>
                  <a:schemeClr val="accent2"/>
                </a:solidFill>
              </a:rPr>
              <a:t>daniel.</a:t>
            </a:r>
            <a:r>
              <a:rPr lang="de-DE" sz="2000" err="1">
                <a:solidFill>
                  <a:schemeClr val="accent2"/>
                </a:solidFill>
              </a:rPr>
              <a:t>marbach</a:t>
            </a:r>
            <a:r>
              <a:rPr lang="de-DE" sz="2000">
                <a:solidFill>
                  <a:schemeClr val="accent2"/>
                </a:solidFill>
              </a:rPr>
              <a:t>@particular.</a:t>
            </a:r>
            <a:r>
              <a:rPr lang="de-DE" sz="2000" dirty="0" err="1">
                <a:solidFill>
                  <a:schemeClr val="accent2"/>
                </a:solidFill>
              </a:rPr>
              <a:t>net</a:t>
            </a:r>
            <a:endParaRPr lang="de-DE" sz="2000" dirty="0">
              <a:solidFill>
                <a:schemeClr val="accent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9FCDDE-EFC5-3D82-A3AC-02C996BD8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7450A5-96E4-8E1B-AB2F-8858F2959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3373354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F4B54B"/>
      </a:accent1>
      <a:accent2>
        <a:srgbClr val="A2C84E"/>
      </a:accent2>
      <a:accent3>
        <a:srgbClr val="4BC298"/>
      </a:accent3>
      <a:accent4>
        <a:srgbClr val="4CB5D3"/>
      </a:accent4>
      <a:accent5>
        <a:srgbClr val="9167E3"/>
      </a:accent5>
      <a:accent6>
        <a:srgbClr val="E05073"/>
      </a:accent6>
      <a:hlink>
        <a:srgbClr val="E19520"/>
      </a:hlink>
      <a:folHlink>
        <a:srgbClr val="E8B15D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DD1DAD52-B525-46B5-8E87-60EE23581B9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3281</TotalTime>
  <Words>610</Words>
  <Application>Microsoft Macintosh PowerPoint</Application>
  <PresentationFormat>Widescreen</PresentationFormat>
  <Paragraphs>92</Paragraphs>
  <Slides>44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5" baseType="lpstr">
      <vt:lpstr>Aptos</vt:lpstr>
      <vt:lpstr>Aptos Display</vt:lpstr>
      <vt:lpstr>Arial</vt:lpstr>
      <vt:lpstr>Calibri</vt:lpstr>
      <vt:lpstr>Calibri Light</vt:lpstr>
      <vt:lpstr>Century Gothic</vt:lpstr>
      <vt:lpstr>Segoe Pro Semibold</vt:lpstr>
      <vt:lpstr>Segoe UI</vt:lpstr>
      <vt:lpstr>Segoe UI Semibold</vt:lpstr>
      <vt:lpstr>Office Theme</vt:lpstr>
      <vt:lpstr>Mesh</vt:lpstr>
      <vt:lpstr>Navigating through the Azure Messaging (over)choice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all of them</vt:lpstr>
      <vt:lpstr>PowerPoint Presentation</vt:lpstr>
      <vt:lpstr>github.com/danielmarbach/ AzureMessagingOverchoice</vt:lpstr>
      <vt:lpstr>Navigating through the Azure Messaging (over)choice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Marbach</dc:creator>
  <cp:lastModifiedBy>Daniel Marbach</cp:lastModifiedBy>
  <cp:revision>61</cp:revision>
  <dcterms:created xsi:type="dcterms:W3CDTF">2025-04-22T19:22:45Z</dcterms:created>
  <dcterms:modified xsi:type="dcterms:W3CDTF">2025-05-19T04:50:05Z</dcterms:modified>
</cp:coreProperties>
</file>