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62"/>
  </p:notesMasterIdLst>
  <p:sldIdLst>
    <p:sldId id="257" r:id="rId3"/>
    <p:sldId id="2147480850" r:id="rId4"/>
    <p:sldId id="2147480798" r:id="rId5"/>
    <p:sldId id="2147480810" r:id="rId6"/>
    <p:sldId id="2147480811" r:id="rId7"/>
    <p:sldId id="2147480812" r:id="rId8"/>
    <p:sldId id="2147480803" r:id="rId9"/>
    <p:sldId id="2147480796" r:id="rId10"/>
    <p:sldId id="2147480795" r:id="rId11"/>
    <p:sldId id="2147480805" r:id="rId12"/>
    <p:sldId id="2147480814" r:id="rId13"/>
    <p:sldId id="2147480815" r:id="rId14"/>
    <p:sldId id="2147480816" r:id="rId15"/>
    <p:sldId id="2147480817" r:id="rId16"/>
    <p:sldId id="2147480818" r:id="rId17"/>
    <p:sldId id="2147480819" r:id="rId18"/>
    <p:sldId id="2147480820" r:id="rId19"/>
    <p:sldId id="2147480821" r:id="rId20"/>
    <p:sldId id="2147480849" r:id="rId21"/>
    <p:sldId id="2147480799" r:id="rId22"/>
    <p:sldId id="2147480813" r:id="rId23"/>
    <p:sldId id="2147480851" r:id="rId24"/>
    <p:sldId id="2147480800" r:id="rId25"/>
    <p:sldId id="2147480822" r:id="rId26"/>
    <p:sldId id="2147480823" r:id="rId27"/>
    <p:sldId id="2147480824" r:id="rId28"/>
    <p:sldId id="2147480825" r:id="rId29"/>
    <p:sldId id="2147480826" r:id="rId30"/>
    <p:sldId id="2147480827" r:id="rId31"/>
    <p:sldId id="2147480828" r:id="rId32"/>
    <p:sldId id="2147480829" r:id="rId33"/>
    <p:sldId id="2147480830" r:id="rId34"/>
    <p:sldId id="2147480831" r:id="rId35"/>
    <p:sldId id="2147480832" r:id="rId36"/>
    <p:sldId id="2147480833" r:id="rId37"/>
    <p:sldId id="2147480834" r:id="rId38"/>
    <p:sldId id="2147480835" r:id="rId39"/>
    <p:sldId id="2147480804" r:id="rId40"/>
    <p:sldId id="2147480852" r:id="rId41"/>
    <p:sldId id="2147480802" r:id="rId42"/>
    <p:sldId id="2147480838" r:id="rId43"/>
    <p:sldId id="2147480839" r:id="rId44"/>
    <p:sldId id="2147480840" r:id="rId45"/>
    <p:sldId id="2147480841" r:id="rId46"/>
    <p:sldId id="2147480842" r:id="rId47"/>
    <p:sldId id="2147480843" r:id="rId48"/>
    <p:sldId id="2147480806" r:id="rId49"/>
    <p:sldId id="2147480801" r:id="rId50"/>
    <p:sldId id="2147480844" r:id="rId51"/>
    <p:sldId id="2147480845" r:id="rId52"/>
    <p:sldId id="2147480846" r:id="rId53"/>
    <p:sldId id="2147480847" r:id="rId54"/>
    <p:sldId id="2147480848" r:id="rId55"/>
    <p:sldId id="2147480808" r:id="rId56"/>
    <p:sldId id="709" r:id="rId57"/>
    <p:sldId id="2147480793" r:id="rId58"/>
    <p:sldId id="2147480836" r:id="rId59"/>
    <p:sldId id="2147480837" r:id="rId60"/>
    <p:sldId id="2147480794"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AF4412E-B7E5-BF48-A329-453E1D4B3A61}">
          <p14:sldIdLst>
            <p14:sldId id="257"/>
          </p14:sldIdLst>
        </p14:section>
        <p14:section name="Service Bus" id="{C1A2A247-4E12-AE4C-BCA4-826E26B19FBE}">
          <p14:sldIdLst>
            <p14:sldId id="2147480850"/>
            <p14:sldId id="2147480798"/>
            <p14:sldId id="2147480810"/>
            <p14:sldId id="2147480811"/>
            <p14:sldId id="2147480812"/>
            <p14:sldId id="2147480803"/>
            <p14:sldId id="2147480796"/>
            <p14:sldId id="2147480795"/>
            <p14:sldId id="2147480805"/>
            <p14:sldId id="2147480814"/>
            <p14:sldId id="2147480815"/>
            <p14:sldId id="2147480816"/>
            <p14:sldId id="2147480817"/>
            <p14:sldId id="2147480818"/>
            <p14:sldId id="2147480819"/>
            <p14:sldId id="2147480820"/>
            <p14:sldId id="2147480821"/>
            <p14:sldId id="2147480849"/>
            <p14:sldId id="2147480799"/>
            <p14:sldId id="2147480813"/>
          </p14:sldIdLst>
        </p14:section>
        <p14:section name="Event Hubs" id="{EE250FFE-A41C-0A43-8343-FECB432D9BCB}">
          <p14:sldIdLst>
            <p14:sldId id="2147480851"/>
            <p14:sldId id="2147480800"/>
            <p14:sldId id="2147480822"/>
            <p14:sldId id="2147480823"/>
            <p14:sldId id="2147480824"/>
            <p14:sldId id="2147480825"/>
            <p14:sldId id="2147480826"/>
            <p14:sldId id="2147480827"/>
            <p14:sldId id="2147480828"/>
            <p14:sldId id="2147480829"/>
            <p14:sldId id="2147480830"/>
            <p14:sldId id="2147480831"/>
            <p14:sldId id="2147480832"/>
            <p14:sldId id="2147480833"/>
            <p14:sldId id="2147480834"/>
            <p14:sldId id="2147480835"/>
            <p14:sldId id="2147480804"/>
          </p14:sldIdLst>
        </p14:section>
        <p14:section name="Event Grid" id="{693D50D4-FAE8-4A41-8BA2-B27EAF9DD3E9}">
          <p14:sldIdLst>
            <p14:sldId id="2147480852"/>
            <p14:sldId id="2147480802"/>
            <p14:sldId id="2147480838"/>
            <p14:sldId id="2147480839"/>
            <p14:sldId id="2147480840"/>
            <p14:sldId id="2147480841"/>
            <p14:sldId id="2147480842"/>
            <p14:sldId id="2147480843"/>
            <p14:sldId id="2147480806"/>
            <p14:sldId id="2147480801"/>
            <p14:sldId id="2147480844"/>
            <p14:sldId id="2147480845"/>
            <p14:sldId id="2147480846"/>
            <p14:sldId id="2147480847"/>
            <p14:sldId id="2147480848"/>
            <p14:sldId id="2147480808"/>
          </p14:sldIdLst>
        </p14:section>
        <p14:section name="Wrap up" id="{1F2F8363-3E12-3442-94D9-0043DF96EC09}">
          <p14:sldIdLst>
            <p14:sldId id="709"/>
            <p14:sldId id="2147480793"/>
            <p14:sldId id="2147480836"/>
            <p14:sldId id="2147480837"/>
            <p14:sldId id="21474807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D1F1E"/>
    <a:srgbClr val="1A1A1A"/>
    <a:srgbClr val="1E1E1E"/>
    <a:srgbClr val="2A24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436"/>
    <p:restoredTop sz="58678"/>
  </p:normalViewPr>
  <p:slideViewPr>
    <p:cSldViewPr snapToGrid="0">
      <p:cViewPr>
        <p:scale>
          <a:sx n="73" d="100"/>
          <a:sy n="73" d="100"/>
        </p:scale>
        <p:origin x="3808"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78A594-58CB-0A47-A214-EFDFB9F27576}" type="datetimeFigureOut">
              <a:rPr lang="en-US" smtClean="0"/>
              <a:t>5/23/25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172418-D9C9-2043-9217-E6B77BFECEB4}" type="slidenum">
              <a:rPr lang="en-US" smtClean="0"/>
              <a:t>‹#›</a:t>
            </a:fld>
            <a:endParaRPr lang="en-US"/>
          </a:p>
        </p:txBody>
      </p:sp>
    </p:spTree>
    <p:extLst>
      <p:ext uri="{BB962C8B-B14F-4D97-AF65-F5344CB8AC3E}">
        <p14:creationId xmlns:p14="http://schemas.microsoft.com/office/powerpoint/2010/main" val="400897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A warm </a:t>
            </a:r>
            <a:r>
              <a:rPr lang="de-DE" dirty="0" err="1"/>
              <a:t>welcome</a:t>
            </a:r>
            <a:r>
              <a:rPr lang="de-DE" dirty="0"/>
              <a:t> </a:t>
            </a:r>
            <a:r>
              <a:rPr lang="de-DE" dirty="0" err="1"/>
              <a:t>from</a:t>
            </a:r>
            <a:r>
              <a:rPr lang="de-DE" dirty="0"/>
              <a:t> </a:t>
            </a:r>
            <a:r>
              <a:rPr lang="de-DE" dirty="0" err="1"/>
              <a:t>my</a:t>
            </a:r>
            <a:r>
              <a:rPr lang="de-DE" dirty="0"/>
              <a:t> </a:t>
            </a:r>
            <a:r>
              <a:rPr lang="de-DE" dirty="0" err="1"/>
              <a:t>side</a:t>
            </a:r>
            <a:endParaRPr lang="de-DE" dirty="0"/>
          </a:p>
          <a:p>
            <a:endParaRPr lang="de-DE" dirty="0"/>
          </a:p>
          <a:p>
            <a:r>
              <a:rPr lang="de-DE" dirty="0"/>
              <a:t>Today </a:t>
            </a:r>
            <a:r>
              <a:rPr lang="de-DE" dirty="0" err="1"/>
              <a:t>we</a:t>
            </a:r>
            <a:r>
              <a:rPr lang="de-DE" dirty="0"/>
              <a:t> </a:t>
            </a:r>
            <a:r>
              <a:rPr lang="de-DE" dirty="0" err="1"/>
              <a:t>are</a:t>
            </a:r>
            <a:r>
              <a:rPr lang="de-DE" dirty="0"/>
              <a:t> </a:t>
            </a:r>
            <a:r>
              <a:rPr lang="de-DE" dirty="0" err="1"/>
              <a:t>going</a:t>
            </a:r>
            <a:r>
              <a:rPr lang="de-DE" dirty="0"/>
              <a:t> </a:t>
            </a:r>
            <a:r>
              <a:rPr lang="de-DE" dirty="0" err="1"/>
              <a:t>to</a:t>
            </a:r>
            <a:r>
              <a:rPr lang="de-DE" dirty="0"/>
              <a:t> </a:t>
            </a:r>
            <a:r>
              <a:rPr lang="de-DE" dirty="0" err="1"/>
              <a:t>look</a:t>
            </a:r>
            <a:r>
              <a:rPr lang="de-DE" dirty="0"/>
              <a:t> </a:t>
            </a:r>
            <a:r>
              <a:rPr lang="de-DE" dirty="0" err="1"/>
              <a:t>into</a:t>
            </a:r>
            <a:r>
              <a:rPr lang="de-DE" dirty="0"/>
              <a:t> </a:t>
            </a:r>
            <a:r>
              <a:rPr lang="de-DE" dirty="0" err="1"/>
              <a:t>three</a:t>
            </a:r>
            <a:r>
              <a:rPr lang="de-DE" dirty="0"/>
              <a:t> different </a:t>
            </a:r>
            <a:r>
              <a:rPr lang="de-DE" dirty="0" err="1"/>
              <a:t>services</a:t>
            </a:r>
            <a:r>
              <a:rPr lang="de-DE" dirty="0"/>
              <a:t>. Azure Service Bus, Event Hubs and Event </a:t>
            </a:r>
            <a:r>
              <a:rPr lang="de-DE" dirty="0" err="1"/>
              <a:t>Grid</a:t>
            </a:r>
            <a:r>
              <a:rPr lang="de-DE" dirty="0"/>
              <a:t>. The </a:t>
            </a:r>
            <a:r>
              <a:rPr lang="de-DE" dirty="0" err="1"/>
              <a:t>focus</a:t>
            </a:r>
            <a:r>
              <a:rPr lang="de-DE" dirty="0"/>
              <a:t> on </a:t>
            </a:r>
            <a:r>
              <a:rPr lang="de-DE" dirty="0" err="1"/>
              <a:t>this</a:t>
            </a:r>
            <a:r>
              <a:rPr lang="de-DE" dirty="0"/>
              <a:t> </a:t>
            </a:r>
            <a:r>
              <a:rPr lang="de-DE" dirty="0" err="1"/>
              <a:t>talk</a:t>
            </a:r>
            <a:r>
              <a:rPr lang="de-DE" dirty="0"/>
              <a:t> </a:t>
            </a:r>
            <a:r>
              <a:rPr lang="de-DE" dirty="0" err="1"/>
              <a:t>is</a:t>
            </a:r>
            <a:r>
              <a:rPr lang="de-DE" dirty="0"/>
              <a:t> </a:t>
            </a:r>
            <a:r>
              <a:rPr lang="de-DE" dirty="0" err="1"/>
              <a:t>to</a:t>
            </a:r>
            <a:r>
              <a:rPr lang="de-DE" dirty="0"/>
              <a:t> </a:t>
            </a:r>
            <a:r>
              <a:rPr lang="de-DE" dirty="0" err="1"/>
              <a:t>show</a:t>
            </a:r>
            <a:r>
              <a:rPr lang="de-DE" dirty="0"/>
              <a:t> </a:t>
            </a:r>
            <a:r>
              <a:rPr lang="de-DE" dirty="0" err="1"/>
              <a:t>you</a:t>
            </a:r>
            <a:r>
              <a:rPr lang="de-DE" dirty="0"/>
              <a:t> robust and reliable code </a:t>
            </a:r>
            <a:r>
              <a:rPr lang="de-DE" dirty="0" err="1"/>
              <a:t>patterns</a:t>
            </a:r>
            <a:r>
              <a:rPr lang="de-DE" dirty="0"/>
              <a:t> </a:t>
            </a:r>
            <a:r>
              <a:rPr lang="de-DE" dirty="0" err="1"/>
              <a:t>to</a:t>
            </a:r>
            <a:r>
              <a:rPr lang="de-DE" dirty="0"/>
              <a:t> </a:t>
            </a:r>
            <a:r>
              <a:rPr lang="de-DE" dirty="0" err="1"/>
              <a:t>use</a:t>
            </a:r>
            <a:r>
              <a:rPr lang="de-DE" dirty="0"/>
              <a:t> </a:t>
            </a:r>
            <a:r>
              <a:rPr lang="de-DE" dirty="0" err="1"/>
              <a:t>these</a:t>
            </a:r>
            <a:r>
              <a:rPr lang="de-DE" dirty="0"/>
              <a:t> </a:t>
            </a:r>
            <a:r>
              <a:rPr lang="de-DE" dirty="0" err="1"/>
              <a:t>services</a:t>
            </a:r>
            <a:r>
              <a:rPr lang="de-DE" dirty="0"/>
              <a:t> and </a:t>
            </a:r>
            <a:r>
              <a:rPr lang="de-DE" dirty="0" err="1"/>
              <a:t>teach</a:t>
            </a:r>
            <a:r>
              <a:rPr lang="de-DE" dirty="0"/>
              <a:t> </a:t>
            </a:r>
            <a:r>
              <a:rPr lang="de-DE" dirty="0" err="1"/>
              <a:t>you</a:t>
            </a:r>
            <a:r>
              <a:rPr lang="de-DE" dirty="0"/>
              <a:t> </a:t>
            </a:r>
            <a:r>
              <a:rPr lang="de-DE" dirty="0" err="1"/>
              <a:t>crucial</a:t>
            </a:r>
            <a:r>
              <a:rPr lang="de-DE" dirty="0"/>
              <a:t> </a:t>
            </a:r>
            <a:r>
              <a:rPr lang="de-DE" dirty="0" err="1"/>
              <a:t>knowledge</a:t>
            </a:r>
            <a:r>
              <a:rPr lang="de-DE" dirty="0"/>
              <a:t> </a:t>
            </a:r>
            <a:r>
              <a:rPr lang="de-DE" dirty="0" err="1"/>
              <a:t>about</a:t>
            </a:r>
            <a:r>
              <a:rPr lang="de-DE" dirty="0"/>
              <a:t> </a:t>
            </a:r>
            <a:r>
              <a:rPr lang="de-DE" dirty="0" err="1"/>
              <a:t>these</a:t>
            </a:r>
            <a:r>
              <a:rPr lang="de-DE" dirty="0"/>
              <a:t> </a:t>
            </a:r>
            <a:r>
              <a:rPr lang="de-DE" dirty="0" err="1"/>
              <a:t>services</a:t>
            </a:r>
            <a:r>
              <a:rPr lang="de-DE" dirty="0"/>
              <a:t> </a:t>
            </a:r>
            <a:r>
              <a:rPr lang="de-DE" dirty="0" err="1"/>
              <a:t>to</a:t>
            </a:r>
            <a:r>
              <a:rPr lang="de-DE" dirty="0"/>
              <a:t> </a:t>
            </a:r>
            <a:r>
              <a:rPr lang="de-DE" dirty="0" err="1"/>
              <a:t>be</a:t>
            </a:r>
            <a:r>
              <a:rPr lang="de-DE" dirty="0"/>
              <a:t> </a:t>
            </a:r>
            <a:r>
              <a:rPr lang="de-DE" dirty="0" err="1"/>
              <a:t>successful</a:t>
            </a:r>
            <a:r>
              <a:rPr lang="de-DE" dirty="0"/>
              <a:t> in </a:t>
            </a:r>
            <a:r>
              <a:rPr lang="de-DE" dirty="0" err="1"/>
              <a:t>your</a:t>
            </a:r>
            <a:r>
              <a:rPr lang="de-DE" dirty="0"/>
              <a:t> </a:t>
            </a:r>
            <a:r>
              <a:rPr lang="de-DE" dirty="0" err="1"/>
              <a:t>projects</a:t>
            </a:r>
            <a:r>
              <a:rPr lang="de-DE" dirty="0"/>
              <a:t>. These </a:t>
            </a:r>
            <a:r>
              <a:rPr lang="de-DE" dirty="0" err="1"/>
              <a:t>three</a:t>
            </a:r>
            <a:r>
              <a:rPr lang="de-DE" dirty="0"/>
              <a:t> </a:t>
            </a:r>
            <a:r>
              <a:rPr lang="de-DE" dirty="0" err="1"/>
              <a:t>services</a:t>
            </a:r>
            <a:r>
              <a:rPr lang="de-DE" dirty="0"/>
              <a:t> </a:t>
            </a:r>
            <a:r>
              <a:rPr lang="de-DE" dirty="0" err="1"/>
              <a:t>are</a:t>
            </a:r>
            <a:r>
              <a:rPr lang="de-DE" dirty="0"/>
              <a:t> </a:t>
            </a:r>
            <a:r>
              <a:rPr lang="de-DE" dirty="0" err="1"/>
              <a:t>the</a:t>
            </a:r>
            <a:r>
              <a:rPr lang="de-DE" dirty="0"/>
              <a:t> </a:t>
            </a:r>
            <a:r>
              <a:rPr lang="de-DE" dirty="0" err="1"/>
              <a:t>building</a:t>
            </a:r>
            <a:r>
              <a:rPr lang="de-DE" dirty="0"/>
              <a:t> </a:t>
            </a:r>
            <a:r>
              <a:rPr lang="de-DE" dirty="0" err="1"/>
              <a:t>blocks</a:t>
            </a:r>
            <a:r>
              <a:rPr lang="de-DE" dirty="0"/>
              <a:t> </a:t>
            </a:r>
            <a:r>
              <a:rPr lang="de-DE" dirty="0" err="1"/>
              <a:t>for</a:t>
            </a:r>
            <a:r>
              <a:rPr lang="de-DE" dirty="0"/>
              <a:t> </a:t>
            </a:r>
            <a:r>
              <a:rPr lang="de-DE" dirty="0" err="1"/>
              <a:t>buidling</a:t>
            </a:r>
            <a:r>
              <a:rPr lang="de-DE" dirty="0"/>
              <a:t> </a:t>
            </a:r>
            <a:r>
              <a:rPr lang="de-DE" dirty="0" err="1"/>
              <a:t>scalable</a:t>
            </a:r>
            <a:r>
              <a:rPr lang="de-DE" dirty="0"/>
              <a:t> and reliable </a:t>
            </a:r>
            <a:r>
              <a:rPr lang="de-DE" dirty="0" err="1"/>
              <a:t>distributed</a:t>
            </a:r>
            <a:r>
              <a:rPr lang="de-DE" dirty="0"/>
              <a:t> </a:t>
            </a:r>
            <a:r>
              <a:rPr lang="de-DE" dirty="0" err="1"/>
              <a:t>systems</a:t>
            </a:r>
            <a:r>
              <a:rPr lang="de-DE" dirty="0"/>
              <a:t> on top </a:t>
            </a:r>
            <a:r>
              <a:rPr lang="de-DE" dirty="0" err="1"/>
              <a:t>of</a:t>
            </a:r>
            <a:r>
              <a:rPr lang="de-DE" dirty="0"/>
              <a:t> Azure.</a:t>
            </a:r>
          </a:p>
          <a:p>
            <a:endParaRPr lang="de-DE" dirty="0"/>
          </a:p>
          <a:p>
            <a:r>
              <a:rPr lang="de-DE" dirty="0"/>
              <a:t>The </a:t>
            </a:r>
            <a:r>
              <a:rPr lang="de-DE" dirty="0" err="1"/>
              <a:t>samples</a:t>
            </a:r>
            <a:r>
              <a:rPr lang="de-DE" dirty="0"/>
              <a:t> and code </a:t>
            </a:r>
            <a:r>
              <a:rPr lang="de-DE" dirty="0" err="1"/>
              <a:t>snippets</a:t>
            </a:r>
            <a:r>
              <a:rPr lang="de-DE" dirty="0"/>
              <a:t> </a:t>
            </a:r>
            <a:r>
              <a:rPr lang="de-DE" dirty="0" err="1"/>
              <a:t>are</a:t>
            </a:r>
            <a:r>
              <a:rPr lang="de-DE" dirty="0"/>
              <a:t> </a:t>
            </a:r>
            <a:r>
              <a:rPr lang="de-DE" dirty="0" err="1"/>
              <a:t>deliberately</a:t>
            </a:r>
            <a:r>
              <a:rPr lang="de-DE" dirty="0"/>
              <a:t> </a:t>
            </a:r>
            <a:r>
              <a:rPr lang="de-DE" dirty="0" err="1"/>
              <a:t>kept</a:t>
            </a:r>
            <a:r>
              <a:rPr lang="de-DE" dirty="0"/>
              <a:t> </a:t>
            </a:r>
            <a:r>
              <a:rPr lang="de-DE" dirty="0" err="1"/>
              <a:t>to</a:t>
            </a:r>
            <a:r>
              <a:rPr lang="de-DE" dirty="0"/>
              <a:t> </a:t>
            </a:r>
            <a:r>
              <a:rPr lang="de-DE" dirty="0" err="1"/>
              <a:t>the</a:t>
            </a:r>
            <a:r>
              <a:rPr lang="de-DE" dirty="0"/>
              <a:t> </a:t>
            </a:r>
            <a:r>
              <a:rPr lang="de-DE" dirty="0" err="1"/>
              <a:t>essence</a:t>
            </a:r>
            <a:r>
              <a:rPr lang="de-DE" dirty="0"/>
              <a:t> </a:t>
            </a:r>
            <a:r>
              <a:rPr lang="de-DE" dirty="0" err="1"/>
              <a:t>to</a:t>
            </a:r>
            <a:r>
              <a:rPr lang="de-DE" dirty="0"/>
              <a:t> not </a:t>
            </a:r>
            <a:r>
              <a:rPr lang="de-DE" dirty="0" err="1"/>
              <a:t>distract</a:t>
            </a:r>
            <a:r>
              <a:rPr lang="de-DE" dirty="0"/>
              <a:t> </a:t>
            </a:r>
            <a:r>
              <a:rPr lang="de-DE" dirty="0" err="1"/>
              <a:t>too</a:t>
            </a:r>
            <a:r>
              <a:rPr lang="de-DE" dirty="0"/>
              <a:t> </a:t>
            </a:r>
            <a:r>
              <a:rPr lang="de-DE" dirty="0" err="1"/>
              <a:t>much</a:t>
            </a:r>
            <a:r>
              <a:rPr lang="de-DE" dirty="0"/>
              <a:t> </a:t>
            </a:r>
            <a:r>
              <a:rPr lang="de-DE" dirty="0" err="1"/>
              <a:t>from</a:t>
            </a:r>
            <a:r>
              <a:rPr lang="de-DE" dirty="0"/>
              <a:t> </a:t>
            </a:r>
            <a:r>
              <a:rPr lang="de-DE" dirty="0" err="1"/>
              <a:t>the</a:t>
            </a:r>
            <a:r>
              <a:rPr lang="de-DE" dirty="0"/>
              <a:t> essential Azure .NET SDK code. </a:t>
            </a:r>
            <a:r>
              <a:rPr lang="de-DE" dirty="0" err="1"/>
              <a:t>Throughout</a:t>
            </a:r>
            <a:r>
              <a:rPr lang="de-DE" dirty="0"/>
              <a:t> </a:t>
            </a:r>
            <a:r>
              <a:rPr lang="de-DE" dirty="0" err="1"/>
              <a:t>the</a:t>
            </a:r>
            <a:r>
              <a:rPr lang="de-DE" dirty="0"/>
              <a:t> </a:t>
            </a:r>
            <a:r>
              <a:rPr lang="de-DE" dirty="0" err="1"/>
              <a:t>talk</a:t>
            </a:r>
            <a:r>
              <a:rPr lang="de-DE" dirty="0"/>
              <a:t> </a:t>
            </a:r>
            <a:r>
              <a:rPr lang="de-DE" dirty="0" err="1"/>
              <a:t>I‘ll</a:t>
            </a:r>
            <a:r>
              <a:rPr lang="de-DE" dirty="0"/>
              <a:t> </a:t>
            </a:r>
            <a:r>
              <a:rPr lang="de-DE" dirty="0" err="1"/>
              <a:t>be</a:t>
            </a:r>
            <a:r>
              <a:rPr lang="de-DE" dirty="0"/>
              <a:t> </a:t>
            </a:r>
            <a:r>
              <a:rPr lang="de-DE" dirty="0" err="1"/>
              <a:t>showing</a:t>
            </a:r>
            <a:r>
              <a:rPr lang="de-DE" dirty="0"/>
              <a:t> </a:t>
            </a:r>
            <a:r>
              <a:rPr lang="de-DE" dirty="0" err="1"/>
              <a:t>you</a:t>
            </a:r>
            <a:r>
              <a:rPr lang="de-DE" dirty="0"/>
              <a:t> code in </a:t>
            </a:r>
            <a:r>
              <a:rPr lang="de-DE" dirty="0" err="1"/>
              <a:t>the</a:t>
            </a:r>
            <a:r>
              <a:rPr lang="de-DE" dirty="0"/>
              <a:t> IDE and </a:t>
            </a:r>
            <a:r>
              <a:rPr lang="de-DE" dirty="0" err="1"/>
              <a:t>run</a:t>
            </a:r>
            <a:r>
              <a:rPr lang="de-DE" dirty="0"/>
              <a:t> </a:t>
            </a:r>
            <a:r>
              <a:rPr lang="de-DE" dirty="0" err="1"/>
              <a:t>samples</a:t>
            </a:r>
            <a:r>
              <a:rPr lang="de-DE" dirty="0"/>
              <a:t> in </a:t>
            </a:r>
            <a:r>
              <a:rPr lang="de-DE" dirty="0" err="1"/>
              <a:t>the</a:t>
            </a:r>
            <a:r>
              <a:rPr lang="de-DE" dirty="0"/>
              <a:t> </a:t>
            </a:r>
            <a:r>
              <a:rPr lang="de-DE" dirty="0" err="1"/>
              <a:t>console</a:t>
            </a:r>
            <a:r>
              <a:rPr lang="de-DE" dirty="0"/>
              <a:t> </a:t>
            </a:r>
            <a:r>
              <a:rPr lang="de-DE" dirty="0" err="1"/>
              <a:t>locally</a:t>
            </a:r>
            <a:r>
              <a:rPr lang="de-DE" dirty="0"/>
              <a:t>. </a:t>
            </a:r>
            <a:r>
              <a:rPr lang="de-DE" dirty="0" err="1"/>
              <a:t>I‘ll</a:t>
            </a:r>
            <a:r>
              <a:rPr lang="de-DE" dirty="0"/>
              <a:t> do a </a:t>
            </a:r>
            <a:r>
              <a:rPr lang="de-DE" dirty="0" err="1"/>
              <a:t>mixture</a:t>
            </a:r>
            <a:r>
              <a:rPr lang="de-DE" dirty="0"/>
              <a:t> </a:t>
            </a:r>
            <a:r>
              <a:rPr lang="de-DE" dirty="0" err="1"/>
              <a:t>of</a:t>
            </a:r>
            <a:r>
              <a:rPr lang="de-DE" dirty="0"/>
              <a:t> </a:t>
            </a:r>
            <a:r>
              <a:rPr lang="de-DE" dirty="0" err="1"/>
              <a:t>showing</a:t>
            </a:r>
            <a:r>
              <a:rPr lang="de-DE" dirty="0"/>
              <a:t> </a:t>
            </a:r>
            <a:r>
              <a:rPr lang="de-DE" dirty="0" err="1"/>
              <a:t>things</a:t>
            </a:r>
            <a:r>
              <a:rPr lang="de-DE" dirty="0"/>
              <a:t> in </a:t>
            </a:r>
            <a:r>
              <a:rPr lang="de-DE" dirty="0" err="1"/>
              <a:t>the</a:t>
            </a:r>
            <a:r>
              <a:rPr lang="de-DE" dirty="0"/>
              <a:t> </a:t>
            </a:r>
            <a:r>
              <a:rPr lang="de-DE" dirty="0" err="1"/>
              <a:t>portal</a:t>
            </a:r>
            <a:r>
              <a:rPr lang="de-DE" dirty="0"/>
              <a:t> but </a:t>
            </a:r>
            <a:r>
              <a:rPr lang="de-DE" dirty="0" err="1"/>
              <a:t>there</a:t>
            </a:r>
            <a:r>
              <a:rPr lang="de-DE" dirty="0"/>
              <a:t> </a:t>
            </a:r>
            <a:r>
              <a:rPr lang="de-DE" dirty="0" err="1"/>
              <a:t>is</a:t>
            </a:r>
            <a:r>
              <a:rPr lang="de-DE" dirty="0"/>
              <a:t> also a fair </a:t>
            </a:r>
            <a:r>
              <a:rPr lang="de-DE" dirty="0" err="1"/>
              <a:t>amount</a:t>
            </a:r>
            <a:r>
              <a:rPr lang="de-DE" dirty="0"/>
              <a:t> </a:t>
            </a:r>
            <a:r>
              <a:rPr lang="de-DE" dirty="0" err="1"/>
              <a:t>of</a:t>
            </a:r>
            <a:r>
              <a:rPr lang="de-DE" dirty="0"/>
              <a:t> </a:t>
            </a:r>
            <a:r>
              <a:rPr lang="de-DE" dirty="0" err="1"/>
              <a:t>things</a:t>
            </a:r>
            <a:r>
              <a:rPr lang="de-DE" dirty="0"/>
              <a:t> I </a:t>
            </a:r>
            <a:r>
              <a:rPr lang="de-DE" dirty="0" err="1"/>
              <a:t>have</a:t>
            </a:r>
            <a:r>
              <a:rPr lang="de-DE" dirty="0"/>
              <a:t> </a:t>
            </a:r>
            <a:r>
              <a:rPr lang="de-DE" dirty="0" err="1"/>
              <a:t>already</a:t>
            </a:r>
            <a:r>
              <a:rPr lang="de-DE" dirty="0"/>
              <a:t> </a:t>
            </a:r>
            <a:r>
              <a:rPr lang="de-DE" dirty="0" err="1"/>
              <a:t>setup</a:t>
            </a:r>
            <a:r>
              <a:rPr lang="de-DE" dirty="0"/>
              <a:t> </a:t>
            </a:r>
            <a:r>
              <a:rPr lang="de-DE" dirty="0" err="1"/>
              <a:t>to</a:t>
            </a:r>
            <a:r>
              <a:rPr lang="de-DE" dirty="0"/>
              <a:t> save </a:t>
            </a:r>
            <a:r>
              <a:rPr lang="de-DE" dirty="0" err="1"/>
              <a:t>you</a:t>
            </a:r>
            <a:r>
              <a:rPr lang="de-DE" dirty="0"/>
              <a:t> </a:t>
            </a:r>
            <a:r>
              <a:rPr lang="de-DE" dirty="0" err="1"/>
              <a:t>from</a:t>
            </a:r>
            <a:r>
              <a:rPr lang="de-DE" dirty="0"/>
              <a:t> </a:t>
            </a:r>
            <a:r>
              <a:rPr lang="de-DE" dirty="0" err="1"/>
              <a:t>watching</a:t>
            </a:r>
            <a:r>
              <a:rPr lang="de-DE" dirty="0"/>
              <a:t> </a:t>
            </a:r>
            <a:r>
              <a:rPr lang="de-DE" dirty="0" err="1"/>
              <a:t>me</a:t>
            </a:r>
            <a:r>
              <a:rPr lang="de-DE" dirty="0"/>
              <a:t> </a:t>
            </a:r>
            <a:r>
              <a:rPr lang="de-DE" dirty="0" err="1"/>
              <a:t>doing</a:t>
            </a:r>
            <a:r>
              <a:rPr lang="de-DE" dirty="0"/>
              <a:t> </a:t>
            </a:r>
            <a:r>
              <a:rPr lang="de-DE" dirty="0" err="1"/>
              <a:t>the</a:t>
            </a:r>
            <a:r>
              <a:rPr lang="de-DE" dirty="0"/>
              <a:t> </a:t>
            </a:r>
            <a:r>
              <a:rPr lang="de-DE" dirty="0" err="1"/>
              <a:t>boring</a:t>
            </a:r>
            <a:r>
              <a:rPr lang="de-DE" dirty="0"/>
              <a:t> </a:t>
            </a:r>
            <a:r>
              <a:rPr lang="de-DE" dirty="0" err="1"/>
              <a:t>setup</a:t>
            </a:r>
            <a:r>
              <a:rPr lang="de-DE" dirty="0"/>
              <a:t>. </a:t>
            </a:r>
            <a:r>
              <a:rPr lang="de-DE" dirty="0" err="1"/>
              <a:t>Please</a:t>
            </a:r>
            <a:r>
              <a:rPr lang="de-DE" dirty="0"/>
              <a:t> </a:t>
            </a:r>
            <a:r>
              <a:rPr lang="de-DE" dirty="0" err="1"/>
              <a:t>let</a:t>
            </a:r>
            <a:r>
              <a:rPr lang="de-DE" dirty="0"/>
              <a:t> </a:t>
            </a:r>
            <a:r>
              <a:rPr lang="de-DE" dirty="0" err="1"/>
              <a:t>me</a:t>
            </a:r>
            <a:r>
              <a:rPr lang="de-DE" dirty="0"/>
              <a:t> </a:t>
            </a:r>
            <a:r>
              <a:rPr lang="de-DE" dirty="0" err="1"/>
              <a:t>know</a:t>
            </a:r>
            <a:r>
              <a:rPr lang="de-DE" dirty="0"/>
              <a:t> in </a:t>
            </a:r>
            <a:r>
              <a:rPr lang="de-DE" dirty="0" err="1"/>
              <a:t>case</a:t>
            </a:r>
            <a:r>
              <a:rPr lang="de-DE" dirty="0"/>
              <a:t> </a:t>
            </a:r>
            <a:r>
              <a:rPr lang="de-DE" dirty="0" err="1"/>
              <a:t>the</a:t>
            </a:r>
            <a:r>
              <a:rPr lang="de-DE" dirty="0"/>
              <a:t> </a:t>
            </a:r>
            <a:r>
              <a:rPr lang="de-DE" dirty="0" err="1"/>
              <a:t>fonts</a:t>
            </a:r>
            <a:r>
              <a:rPr lang="de-DE" dirty="0"/>
              <a:t> </a:t>
            </a:r>
            <a:r>
              <a:rPr lang="de-DE" dirty="0" err="1"/>
              <a:t>are</a:t>
            </a:r>
            <a:r>
              <a:rPr lang="de-DE" dirty="0"/>
              <a:t> </a:t>
            </a:r>
            <a:r>
              <a:rPr lang="de-DE" dirty="0" err="1"/>
              <a:t>too</a:t>
            </a:r>
            <a:r>
              <a:rPr lang="de-DE" dirty="0"/>
              <a:t> </a:t>
            </a:r>
            <a:r>
              <a:rPr lang="de-DE" dirty="0" err="1"/>
              <a:t>small</a:t>
            </a:r>
            <a:r>
              <a:rPr lang="de-DE" dirty="0"/>
              <a:t> </a:t>
            </a:r>
            <a:r>
              <a:rPr lang="de-DE" dirty="0" err="1"/>
              <a:t>otherwise</a:t>
            </a:r>
            <a:r>
              <a:rPr lang="de-DE" dirty="0"/>
              <a:t> I will just </a:t>
            </a:r>
            <a:r>
              <a:rPr lang="de-DE" dirty="0" err="1"/>
              <a:t>pretend</a:t>
            </a:r>
            <a:r>
              <a:rPr lang="de-DE" dirty="0"/>
              <a:t> </a:t>
            </a:r>
            <a:r>
              <a:rPr lang="de-DE" dirty="0" err="1"/>
              <a:t>everything</a:t>
            </a:r>
            <a:r>
              <a:rPr lang="de-DE" dirty="0"/>
              <a:t> </a:t>
            </a:r>
            <a:r>
              <a:rPr lang="de-DE" dirty="0" err="1"/>
              <a:t>is</a:t>
            </a:r>
            <a:r>
              <a:rPr lang="de-DE" dirty="0"/>
              <a:t> </a:t>
            </a:r>
            <a:r>
              <a:rPr lang="de-DE" dirty="0" err="1"/>
              <a:t>fine</a:t>
            </a:r>
            <a:r>
              <a:rPr lang="de-DE" dirty="0"/>
              <a:t> ;) All </a:t>
            </a:r>
            <a:r>
              <a:rPr lang="de-DE" dirty="0" err="1"/>
              <a:t>the</a:t>
            </a:r>
            <a:r>
              <a:rPr lang="de-DE" dirty="0"/>
              <a:t> code and </a:t>
            </a:r>
            <a:r>
              <a:rPr lang="de-DE" dirty="0" err="1"/>
              <a:t>the</a:t>
            </a:r>
            <a:r>
              <a:rPr lang="de-DE" dirty="0"/>
              <a:t> </a:t>
            </a:r>
            <a:r>
              <a:rPr lang="de-DE" dirty="0" err="1"/>
              <a:t>infrastructure</a:t>
            </a:r>
            <a:r>
              <a:rPr lang="de-DE" dirty="0"/>
              <a:t> </a:t>
            </a:r>
            <a:r>
              <a:rPr lang="de-DE" dirty="0" err="1"/>
              <a:t>bicep</a:t>
            </a:r>
            <a:r>
              <a:rPr lang="de-DE" dirty="0"/>
              <a:t> </a:t>
            </a:r>
            <a:r>
              <a:rPr lang="de-DE" dirty="0" err="1"/>
              <a:t>templates</a:t>
            </a:r>
            <a:r>
              <a:rPr lang="de-DE" dirty="0"/>
              <a:t> </a:t>
            </a:r>
            <a:r>
              <a:rPr lang="de-DE" dirty="0" err="1"/>
              <a:t>are</a:t>
            </a:r>
            <a:r>
              <a:rPr lang="de-DE" dirty="0"/>
              <a:t> </a:t>
            </a:r>
            <a:r>
              <a:rPr lang="de-DE" dirty="0" err="1"/>
              <a:t>available</a:t>
            </a:r>
            <a:r>
              <a:rPr lang="de-DE" dirty="0"/>
              <a:t> in </a:t>
            </a:r>
            <a:r>
              <a:rPr lang="de-DE" dirty="0" err="1"/>
              <a:t>the</a:t>
            </a:r>
            <a:r>
              <a:rPr lang="de-DE" dirty="0"/>
              <a:t> </a:t>
            </a:r>
            <a:r>
              <a:rPr lang="de-DE" dirty="0" err="1"/>
              <a:t>github</a:t>
            </a:r>
            <a:r>
              <a:rPr lang="de-DE" dirty="0"/>
              <a:t> </a:t>
            </a:r>
            <a:r>
              <a:rPr lang="de-DE" dirty="0" err="1"/>
              <a:t>repository</a:t>
            </a:r>
            <a:r>
              <a:rPr lang="de-DE" dirty="0"/>
              <a:t> </a:t>
            </a:r>
            <a:r>
              <a:rPr lang="de-DE" dirty="0" err="1"/>
              <a:t>I‘ll</a:t>
            </a:r>
            <a:r>
              <a:rPr lang="de-DE" dirty="0"/>
              <a:t> </a:t>
            </a:r>
            <a:r>
              <a:rPr lang="de-DE" dirty="0" err="1"/>
              <a:t>share</a:t>
            </a:r>
            <a:r>
              <a:rPr lang="de-DE" dirty="0"/>
              <a:t> at </a:t>
            </a:r>
            <a:r>
              <a:rPr lang="de-DE" dirty="0" err="1"/>
              <a:t>the</a:t>
            </a:r>
            <a:r>
              <a:rPr lang="de-DE" dirty="0"/>
              <a:t> end.</a:t>
            </a:r>
          </a:p>
          <a:p>
            <a:endParaRPr lang="de-DE" dirty="0"/>
          </a:p>
          <a:p>
            <a:r>
              <a:rPr lang="de-DE" dirty="0" err="1"/>
              <a:t>I‘ll</a:t>
            </a:r>
            <a:r>
              <a:rPr lang="de-DE" dirty="0"/>
              <a:t> do </a:t>
            </a:r>
            <a:r>
              <a:rPr lang="de-DE" dirty="0" err="1"/>
              <a:t>my</a:t>
            </a:r>
            <a:r>
              <a:rPr lang="de-DE" dirty="0"/>
              <a:t> </a:t>
            </a:r>
            <a:r>
              <a:rPr lang="de-DE" dirty="0" err="1"/>
              <a:t>best</a:t>
            </a:r>
            <a:r>
              <a:rPr lang="de-DE" dirty="0"/>
              <a:t> </a:t>
            </a:r>
            <a:r>
              <a:rPr lang="de-DE" dirty="0" err="1"/>
              <a:t>to</a:t>
            </a:r>
            <a:r>
              <a:rPr lang="de-DE" dirty="0"/>
              <a:t> </a:t>
            </a:r>
            <a:r>
              <a:rPr lang="de-DE" dirty="0" err="1"/>
              <a:t>cover</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things</a:t>
            </a:r>
            <a:r>
              <a:rPr lang="de-DE" dirty="0"/>
              <a:t> </a:t>
            </a:r>
            <a:r>
              <a:rPr lang="de-DE" dirty="0" err="1"/>
              <a:t>throughout</a:t>
            </a:r>
            <a:r>
              <a:rPr lang="de-DE" dirty="0"/>
              <a:t> </a:t>
            </a:r>
            <a:r>
              <a:rPr lang="de-DE" dirty="0" err="1"/>
              <a:t>the</a:t>
            </a:r>
            <a:r>
              <a:rPr lang="de-DE" dirty="0"/>
              <a:t> </a:t>
            </a:r>
            <a:r>
              <a:rPr lang="de-DE" dirty="0" err="1"/>
              <a:t>talk</a:t>
            </a:r>
            <a:r>
              <a:rPr lang="de-DE" dirty="0"/>
              <a:t> but I also </a:t>
            </a:r>
            <a:r>
              <a:rPr lang="de-DE" dirty="0" err="1"/>
              <a:t>want</a:t>
            </a:r>
            <a:r>
              <a:rPr lang="de-DE" dirty="0"/>
              <a:t> </a:t>
            </a:r>
            <a:r>
              <a:rPr lang="de-DE" dirty="0" err="1"/>
              <a:t>to</a:t>
            </a:r>
            <a:r>
              <a:rPr lang="de-DE" dirty="0"/>
              <a:t> highlight </a:t>
            </a:r>
            <a:r>
              <a:rPr lang="de-DE" dirty="0" err="1"/>
              <a:t>that</a:t>
            </a:r>
            <a:r>
              <a:rPr lang="de-DE" dirty="0"/>
              <a:t> </a:t>
            </a:r>
            <a:r>
              <a:rPr lang="de-DE" dirty="0" err="1"/>
              <a:t>many</a:t>
            </a:r>
            <a:r>
              <a:rPr lang="de-DE" dirty="0"/>
              <a:t> </a:t>
            </a:r>
            <a:r>
              <a:rPr lang="de-DE" dirty="0" err="1"/>
              <a:t>of</a:t>
            </a:r>
            <a:r>
              <a:rPr lang="de-DE" dirty="0"/>
              <a:t> </a:t>
            </a:r>
            <a:r>
              <a:rPr lang="de-DE" dirty="0" err="1"/>
              <a:t>those</a:t>
            </a:r>
            <a:r>
              <a:rPr lang="de-DE" dirty="0"/>
              <a:t> Services </a:t>
            </a:r>
            <a:r>
              <a:rPr lang="de-DE" dirty="0" err="1"/>
              <a:t>have</a:t>
            </a:r>
            <a:r>
              <a:rPr lang="de-DE" dirty="0"/>
              <a:t> </a:t>
            </a:r>
            <a:r>
              <a:rPr lang="de-DE" dirty="0" err="1"/>
              <a:t>many</a:t>
            </a:r>
            <a:r>
              <a:rPr lang="de-DE" dirty="0"/>
              <a:t> </a:t>
            </a:r>
            <a:r>
              <a:rPr lang="de-DE" dirty="0" err="1"/>
              <a:t>knobs</a:t>
            </a:r>
            <a:r>
              <a:rPr lang="de-DE" dirty="0"/>
              <a:t> and </a:t>
            </a:r>
            <a:r>
              <a:rPr lang="de-DE" dirty="0" err="1"/>
              <a:t>dials</a:t>
            </a:r>
            <a:r>
              <a:rPr lang="de-DE" dirty="0"/>
              <a:t> </a:t>
            </a:r>
            <a:r>
              <a:rPr lang="de-DE" dirty="0" err="1"/>
              <a:t>that</a:t>
            </a:r>
            <a:r>
              <a:rPr lang="de-DE" dirty="0"/>
              <a:t> </a:t>
            </a:r>
            <a:r>
              <a:rPr lang="de-DE" dirty="0" err="1"/>
              <a:t>would</a:t>
            </a:r>
            <a:r>
              <a:rPr lang="de-DE" dirty="0"/>
              <a:t> </a:t>
            </a:r>
            <a:r>
              <a:rPr lang="de-DE" dirty="0" err="1"/>
              <a:t>allow</a:t>
            </a:r>
            <a:r>
              <a:rPr lang="de-DE" dirty="0"/>
              <a:t> </a:t>
            </a:r>
            <a:r>
              <a:rPr lang="de-DE" dirty="0" err="1"/>
              <a:t>me</a:t>
            </a:r>
            <a:r>
              <a:rPr lang="de-DE" dirty="0"/>
              <a:t> </a:t>
            </a:r>
            <a:r>
              <a:rPr lang="de-DE" dirty="0" err="1"/>
              <a:t>talking</a:t>
            </a:r>
            <a:r>
              <a:rPr lang="de-DE" dirty="0"/>
              <a:t> </a:t>
            </a:r>
            <a:r>
              <a:rPr lang="de-DE" dirty="0" err="1"/>
              <a:t>about</a:t>
            </a:r>
            <a:r>
              <a:rPr lang="de-DE" dirty="0"/>
              <a:t> an </a:t>
            </a:r>
            <a:r>
              <a:rPr lang="de-DE" dirty="0" err="1"/>
              <a:t>single</a:t>
            </a:r>
            <a:r>
              <a:rPr lang="de-DE" dirty="0"/>
              <a:t> </a:t>
            </a:r>
            <a:r>
              <a:rPr lang="de-DE" dirty="0" err="1"/>
              <a:t>service</a:t>
            </a:r>
            <a:r>
              <a:rPr lang="de-DE" dirty="0"/>
              <a:t> </a:t>
            </a:r>
            <a:r>
              <a:rPr lang="de-DE" dirty="0" err="1"/>
              <a:t>for</a:t>
            </a:r>
            <a:r>
              <a:rPr lang="de-DE" dirty="0"/>
              <a:t> multiple </a:t>
            </a:r>
            <a:r>
              <a:rPr lang="de-DE" dirty="0" err="1"/>
              <a:t>hours</a:t>
            </a:r>
            <a:r>
              <a:rPr lang="de-DE" dirty="0"/>
              <a:t>. </a:t>
            </a:r>
            <a:r>
              <a:rPr lang="de-DE" dirty="0" err="1"/>
              <a:t>Should</a:t>
            </a:r>
            <a:r>
              <a:rPr lang="de-DE" dirty="0"/>
              <a:t> </a:t>
            </a:r>
            <a:r>
              <a:rPr lang="de-DE" dirty="0" err="1"/>
              <a:t>you</a:t>
            </a:r>
            <a:r>
              <a:rPr lang="de-DE" dirty="0"/>
              <a:t> </a:t>
            </a:r>
            <a:r>
              <a:rPr lang="de-DE" dirty="0" err="1"/>
              <a:t>have</a:t>
            </a:r>
            <a:r>
              <a:rPr lang="de-DE" dirty="0"/>
              <a:t> </a:t>
            </a:r>
            <a:r>
              <a:rPr lang="de-DE" dirty="0" err="1"/>
              <a:t>questions</a:t>
            </a:r>
            <a:r>
              <a:rPr lang="de-DE" dirty="0"/>
              <a:t> </a:t>
            </a:r>
            <a:r>
              <a:rPr lang="de-DE" dirty="0" err="1"/>
              <a:t>about</a:t>
            </a:r>
            <a:r>
              <a:rPr lang="de-DE" dirty="0"/>
              <a:t> </a:t>
            </a:r>
            <a:r>
              <a:rPr lang="de-DE" dirty="0" err="1"/>
              <a:t>the</a:t>
            </a:r>
            <a:r>
              <a:rPr lang="de-DE" dirty="0"/>
              <a:t> </a:t>
            </a:r>
            <a:r>
              <a:rPr lang="de-DE" dirty="0" err="1"/>
              <a:t>service</a:t>
            </a:r>
            <a:r>
              <a:rPr lang="de-DE" dirty="0"/>
              <a:t> </a:t>
            </a:r>
            <a:r>
              <a:rPr lang="de-DE" dirty="0" err="1"/>
              <a:t>that</a:t>
            </a:r>
            <a:r>
              <a:rPr lang="de-DE" dirty="0"/>
              <a:t> </a:t>
            </a:r>
            <a:r>
              <a:rPr lang="de-DE" dirty="0" err="1"/>
              <a:t>my</a:t>
            </a:r>
            <a:r>
              <a:rPr lang="de-DE" dirty="0"/>
              <a:t> </a:t>
            </a:r>
            <a:r>
              <a:rPr lang="de-DE" dirty="0" err="1"/>
              <a:t>presentation</a:t>
            </a:r>
            <a:r>
              <a:rPr lang="de-DE" dirty="0"/>
              <a:t> </a:t>
            </a:r>
            <a:r>
              <a:rPr lang="de-DE" dirty="0" err="1"/>
              <a:t>wasn‘t</a:t>
            </a:r>
            <a:r>
              <a:rPr lang="de-DE" dirty="0"/>
              <a:t> </a:t>
            </a:r>
            <a:r>
              <a:rPr lang="de-DE" dirty="0" err="1"/>
              <a:t>able</a:t>
            </a:r>
            <a:r>
              <a:rPr lang="de-DE" dirty="0"/>
              <a:t> </a:t>
            </a:r>
            <a:r>
              <a:rPr lang="de-DE" dirty="0" err="1"/>
              <a:t>to</a:t>
            </a:r>
            <a:r>
              <a:rPr lang="de-DE" dirty="0"/>
              <a:t> </a:t>
            </a:r>
            <a:r>
              <a:rPr lang="de-DE" dirty="0" err="1"/>
              <a:t>cover</a:t>
            </a:r>
            <a:r>
              <a:rPr lang="de-DE" dirty="0"/>
              <a:t> </a:t>
            </a:r>
            <a:r>
              <a:rPr lang="de-DE" dirty="0" err="1"/>
              <a:t>I‘m</a:t>
            </a:r>
            <a:r>
              <a:rPr lang="de-DE" dirty="0"/>
              <a:t> happy </a:t>
            </a:r>
            <a:r>
              <a:rPr lang="de-DE" dirty="0" err="1"/>
              <a:t>to</a:t>
            </a:r>
            <a:r>
              <a:rPr lang="de-DE" dirty="0"/>
              <a:t> </a:t>
            </a:r>
            <a:r>
              <a:rPr lang="de-DE" dirty="0" err="1"/>
              <a:t>be</a:t>
            </a:r>
            <a:r>
              <a:rPr lang="de-DE" dirty="0"/>
              <a:t> </a:t>
            </a:r>
            <a:r>
              <a:rPr lang="de-DE" dirty="0" err="1"/>
              <a:t>available</a:t>
            </a:r>
            <a:r>
              <a:rPr lang="de-DE" dirty="0"/>
              <a:t> </a:t>
            </a:r>
            <a:r>
              <a:rPr lang="de-DE" dirty="0" err="1"/>
              <a:t>throughout</a:t>
            </a:r>
            <a:r>
              <a:rPr lang="de-DE" dirty="0"/>
              <a:t> </a:t>
            </a:r>
            <a:r>
              <a:rPr lang="de-DE" dirty="0" err="1"/>
              <a:t>the</a:t>
            </a:r>
            <a:r>
              <a:rPr lang="de-DE" dirty="0"/>
              <a:t> </a:t>
            </a:r>
            <a:r>
              <a:rPr lang="de-DE" dirty="0" err="1"/>
              <a:t>conference</a:t>
            </a:r>
            <a:r>
              <a:rPr lang="de-DE" dirty="0"/>
              <a:t>, via LinkedIn, </a:t>
            </a:r>
            <a:r>
              <a:rPr lang="de-DE" dirty="0" err="1"/>
              <a:t>Bluesky</a:t>
            </a:r>
            <a:r>
              <a:rPr lang="de-DE" dirty="0"/>
              <a:t> </a:t>
            </a:r>
            <a:r>
              <a:rPr lang="de-DE" dirty="0" err="1"/>
              <a:t>or</a:t>
            </a:r>
            <a:r>
              <a:rPr lang="de-DE" dirty="0"/>
              <a:t> </a:t>
            </a:r>
            <a:r>
              <a:rPr lang="de-DE" dirty="0" err="1"/>
              <a:t>the</a:t>
            </a:r>
            <a:r>
              <a:rPr lang="de-DE" dirty="0"/>
              <a:t> email </a:t>
            </a:r>
            <a:r>
              <a:rPr lang="de-DE" dirty="0" err="1"/>
              <a:t>address</a:t>
            </a:r>
            <a:r>
              <a:rPr lang="de-DE" dirty="0"/>
              <a:t> </a:t>
            </a:r>
            <a:r>
              <a:rPr lang="de-DE" dirty="0" err="1"/>
              <a:t>above</a:t>
            </a:r>
            <a:r>
              <a:rPr lang="de-DE" dirty="0"/>
              <a:t>. I </a:t>
            </a:r>
            <a:r>
              <a:rPr lang="de-DE" dirty="0" err="1"/>
              <a:t>have</a:t>
            </a:r>
            <a:r>
              <a:rPr lang="de-DE" dirty="0"/>
              <a:t> also </a:t>
            </a:r>
            <a:r>
              <a:rPr lang="de-DE" dirty="0" err="1"/>
              <a:t>added</a:t>
            </a:r>
            <a:r>
              <a:rPr lang="de-DE" dirty="0"/>
              <a:t> a </a:t>
            </a:r>
            <a:r>
              <a:rPr lang="de-DE" dirty="0" err="1"/>
              <a:t>few</a:t>
            </a:r>
            <a:r>
              <a:rPr lang="de-DE" dirty="0"/>
              <a:t> </a:t>
            </a:r>
            <a:r>
              <a:rPr lang="de-DE" dirty="0" err="1"/>
              <a:t>business</a:t>
            </a:r>
            <a:r>
              <a:rPr lang="de-DE" dirty="0"/>
              <a:t> </a:t>
            </a:r>
            <a:r>
              <a:rPr lang="de-DE" dirty="0" err="1"/>
              <a:t>cards</a:t>
            </a:r>
            <a:r>
              <a:rPr lang="de-DE" dirty="0"/>
              <a:t> </a:t>
            </a:r>
            <a:r>
              <a:rPr lang="de-DE" dirty="0" err="1"/>
              <a:t>to</a:t>
            </a:r>
            <a:r>
              <a:rPr lang="de-DE" dirty="0"/>
              <a:t> </a:t>
            </a:r>
            <a:r>
              <a:rPr lang="de-DE" dirty="0" err="1"/>
              <a:t>the</a:t>
            </a:r>
            <a:r>
              <a:rPr lang="de-DE" dirty="0"/>
              <a:t> </a:t>
            </a:r>
            <a:r>
              <a:rPr lang="de-DE" dirty="0" err="1"/>
              <a:t>edges</a:t>
            </a:r>
            <a:r>
              <a:rPr lang="de-DE" dirty="0"/>
              <a:t> </a:t>
            </a:r>
            <a:r>
              <a:rPr lang="de-DE" dirty="0" err="1"/>
              <a:t>of</a:t>
            </a:r>
            <a:r>
              <a:rPr lang="de-DE" dirty="0"/>
              <a:t> </a:t>
            </a:r>
            <a:r>
              <a:rPr lang="de-DE" dirty="0" err="1"/>
              <a:t>the</a:t>
            </a:r>
            <a:r>
              <a:rPr lang="de-DE" dirty="0"/>
              <a:t> </a:t>
            </a:r>
            <a:r>
              <a:rPr lang="de-DE" dirty="0" err="1"/>
              <a:t>stage</a:t>
            </a:r>
            <a:r>
              <a:rPr lang="de-DE" dirty="0"/>
              <a:t> </a:t>
            </a:r>
            <a:r>
              <a:rPr lang="de-DE" dirty="0" err="1"/>
              <a:t>should</a:t>
            </a:r>
            <a:r>
              <a:rPr lang="de-DE" dirty="0"/>
              <a:t> in </a:t>
            </a:r>
            <a:r>
              <a:rPr lang="de-DE" dirty="0" err="1"/>
              <a:t>case</a:t>
            </a:r>
            <a:r>
              <a:rPr lang="de-DE" dirty="0"/>
              <a:t> </a:t>
            </a:r>
            <a:r>
              <a:rPr lang="de-DE" dirty="0" err="1"/>
              <a:t>you‘d</a:t>
            </a:r>
            <a:r>
              <a:rPr lang="de-DE" dirty="0"/>
              <a:t> </a:t>
            </a:r>
            <a:r>
              <a:rPr lang="de-DE" dirty="0" err="1"/>
              <a:t>want</a:t>
            </a:r>
            <a:r>
              <a:rPr lang="de-DE" dirty="0"/>
              <a:t> </a:t>
            </a:r>
            <a:r>
              <a:rPr lang="de-DE" dirty="0" err="1"/>
              <a:t>to</a:t>
            </a:r>
            <a:r>
              <a:rPr lang="de-DE" dirty="0"/>
              <a:t> </a:t>
            </a:r>
            <a:r>
              <a:rPr lang="de-DE" dirty="0" err="1"/>
              <a:t>keep</a:t>
            </a:r>
            <a:r>
              <a:rPr lang="de-DE" dirty="0"/>
              <a:t> </a:t>
            </a:r>
            <a:r>
              <a:rPr lang="de-DE" dirty="0" err="1"/>
              <a:t>the</a:t>
            </a:r>
            <a:r>
              <a:rPr lang="de-DE" dirty="0"/>
              <a:t> </a:t>
            </a:r>
            <a:r>
              <a:rPr lang="de-DE" dirty="0" err="1"/>
              <a:t>business</a:t>
            </a:r>
            <a:r>
              <a:rPr lang="de-DE" dirty="0"/>
              <a:t> </a:t>
            </a:r>
            <a:r>
              <a:rPr lang="de-DE" dirty="0" err="1"/>
              <a:t>card</a:t>
            </a:r>
            <a:r>
              <a:rPr lang="de-DE" dirty="0"/>
              <a:t> </a:t>
            </a:r>
            <a:r>
              <a:rPr lang="de-DE" dirty="0" err="1"/>
              <a:t>as</a:t>
            </a:r>
            <a:r>
              <a:rPr lang="de-DE" dirty="0"/>
              <a:t> a </a:t>
            </a:r>
            <a:r>
              <a:rPr lang="de-DE" dirty="0" err="1"/>
              <a:t>reminder</a:t>
            </a:r>
            <a:r>
              <a:rPr lang="de-DE" dirty="0"/>
              <a:t>.</a:t>
            </a:r>
          </a:p>
          <a:p>
            <a:endParaRPr lang="de-DE" dirty="0"/>
          </a:p>
          <a:p>
            <a:r>
              <a:rPr lang="de-DE" dirty="0" err="1"/>
              <a:t>Let‘s</a:t>
            </a:r>
            <a:r>
              <a:rPr lang="de-DE" dirty="0"/>
              <a:t> </a:t>
            </a:r>
            <a:r>
              <a:rPr lang="de-DE" dirty="0" err="1"/>
              <a:t>get</a:t>
            </a:r>
            <a:r>
              <a:rPr lang="de-DE" dirty="0"/>
              <a:t> </a:t>
            </a:r>
            <a:r>
              <a:rPr lang="de-DE" dirty="0" err="1"/>
              <a:t>started</a:t>
            </a:r>
            <a:r>
              <a:rPr lang="de-DE" dirty="0"/>
              <a:t> </a:t>
            </a:r>
            <a:r>
              <a:rPr lang="de-DE" dirty="0" err="1"/>
              <a:t>with</a:t>
            </a:r>
            <a:r>
              <a:rPr lang="de-DE" dirty="0"/>
              <a:t> Azure Service Bus</a:t>
            </a:r>
          </a:p>
        </p:txBody>
      </p:sp>
      <p:sp>
        <p:nvSpPr>
          <p:cNvPr id="4" name="Foliennummernplatzhalter 3"/>
          <p:cNvSpPr>
            <a:spLocks noGrp="1"/>
          </p:cNvSpPr>
          <p:nvPr>
            <p:ph type="sldNum" sz="quarter" idx="5"/>
          </p:nvPr>
        </p:nvSpPr>
        <p:spPr/>
        <p:txBody>
          <a:bodyPr/>
          <a:lstStyle/>
          <a:p>
            <a:fld id="{2DBA657F-BF3E-4BC8-BD58-D0B03B862583}" type="slidenum">
              <a:rPr lang="de-DE"/>
              <a:t>1</a:t>
            </a:fld>
            <a:endParaRPr lang="de-DE"/>
          </a:p>
        </p:txBody>
      </p:sp>
    </p:spTree>
    <p:extLst>
      <p:ext uri="{BB962C8B-B14F-4D97-AF65-F5344CB8AC3E}">
        <p14:creationId xmlns:p14="http://schemas.microsoft.com/office/powerpoint/2010/main" val="1975114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Message, Event distribution (within the enterprise). Single message is the information carrier</a:t>
            </a:r>
          </a:p>
          <a:p>
            <a:r>
              <a:rPr lang="en-US" dirty="0"/>
              <a:t>When to use: Order processing and financial transaction</a:t>
            </a:r>
          </a:p>
          <a:p>
            <a:br>
              <a:rPr lang="en-US" dirty="0"/>
            </a:br>
            <a:r>
              <a:rPr lang="en-US" dirty="0"/>
              <a:t>Error handling: Individual messages can be individually processed several times, put on hold, or marked as processed</a:t>
            </a:r>
          </a:p>
          <a:p>
            <a:br>
              <a:rPr lang="en-US" dirty="0"/>
            </a:br>
            <a:r>
              <a:rPr lang="en-US" dirty="0"/>
              <a:t>Service Bus is a fully managed enterprise message broker with message queues and publish-subscribe topics. The service is intended for enterprise applications that require transactions, ordering, duplicate detection, and instantaneous consistency. Service Bus enables cloud-native applications to provide reliable state transition management for business processes. When handling high-value messages that can't be lost or duplicated, use Azure Service Bus. This service also facilitates highly secure communication across hybrid cloud solutions and can connect existing on-premises systems to cloud solutions.</a:t>
            </a:r>
          </a:p>
          <a:p>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 </a:t>
            </a:r>
            <a:r>
              <a:rPr lang="en-US" sz="1200" b="0" kern="1200" dirty="0">
                <a:solidFill>
                  <a:schemeClr val="tx1"/>
                </a:solidFill>
                <a:effectLst/>
                <a:latin typeface="+mn-lt"/>
                <a:ea typeface="+mn-ea"/>
                <a:cs typeface="+mn-cs"/>
              </a:rPr>
              <a:t>Very cheap consumption-based pricing model (Standard), 12 cents per hour, roughly 10 USD a month as a base price with some operations included</a:t>
            </a:r>
          </a:p>
          <a:p>
            <a:r>
              <a:rPr lang="en-US" sz="1200" b="0" kern="1200" dirty="0">
                <a:solidFill>
                  <a:schemeClr val="tx1"/>
                </a:solidFill>
                <a:effectLst/>
                <a:latin typeface="+mn-lt"/>
                <a:ea typeface="+mn-ea"/>
                <a:cs typeface="+mn-cs"/>
              </a:rPr>
              <a:t>- Shared-resources model</a:t>
            </a:r>
          </a:p>
          <a:p>
            <a:r>
              <a:rPr lang="en-US" sz="1200" b="0" kern="1200" dirty="0">
                <a:solidFill>
                  <a:schemeClr val="tx1"/>
                </a:solidFill>
                <a:effectLst/>
                <a:latin typeface="+mn-lt"/>
                <a:ea typeface="+mn-ea"/>
                <a:cs typeface="+mn-cs"/>
              </a:rPr>
              <a:t>- Capacity-based pricing model (Premium), 90 cents per hour, roughly 700 USD a month per messaging unit. No operation based charges</a:t>
            </a:r>
          </a:p>
          <a:p>
            <a:r>
              <a:rPr lang="en-US" sz="1200" b="0" kern="1200" dirty="0">
                <a:solidFill>
                  <a:schemeClr val="tx1"/>
                </a:solidFill>
                <a:effectLst/>
                <a:latin typeface="+mn-lt"/>
                <a:ea typeface="+mn-ea"/>
                <a:cs typeface="+mn-cs"/>
              </a:rPr>
              <a:t>- Isolated-resources model</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a:t>
            </a:fld>
            <a:endParaRPr lang="en-US"/>
          </a:p>
        </p:txBody>
      </p:sp>
    </p:spTree>
    <p:extLst>
      <p:ext uri="{BB962C8B-B14F-4D97-AF65-F5344CB8AC3E}">
        <p14:creationId xmlns:p14="http://schemas.microsoft.com/office/powerpoint/2010/main" val="30184355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a:t>
            </a:fld>
            <a:endParaRPr lang="en-US"/>
          </a:p>
        </p:txBody>
      </p:sp>
    </p:spTree>
    <p:extLst>
      <p:ext uri="{BB962C8B-B14F-4D97-AF65-F5344CB8AC3E}">
        <p14:creationId xmlns:p14="http://schemas.microsoft.com/office/powerpoint/2010/main" val="1093358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Processor</a:t>
            </a:r>
          </a:p>
        </p:txBody>
      </p:sp>
      <p:sp>
        <p:nvSpPr>
          <p:cNvPr id="4" name="Slide Number Placeholder 3"/>
          <p:cNvSpPr>
            <a:spLocks noGrp="1"/>
          </p:cNvSpPr>
          <p:nvPr>
            <p:ph type="sldNum" sz="quarter" idx="5"/>
          </p:nvPr>
        </p:nvSpPr>
        <p:spPr/>
        <p:txBody>
          <a:bodyPr/>
          <a:lstStyle/>
          <a:p>
            <a:fld id="{B2172418-D9C9-2043-9217-E6B77BFECEB4}" type="slidenum">
              <a:rPr lang="en-US" smtClean="0"/>
              <a:t>7</a:t>
            </a:fld>
            <a:endParaRPr lang="en-US"/>
          </a:p>
        </p:txBody>
      </p:sp>
    </p:spTree>
    <p:extLst>
      <p:ext uri="{BB962C8B-B14F-4D97-AF65-F5344CB8AC3E}">
        <p14:creationId xmlns:p14="http://schemas.microsoft.com/office/powerpoint/2010/main" val="8463743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8</a:t>
            </a:fld>
            <a:endParaRPr lang="en-US"/>
          </a:p>
        </p:txBody>
      </p:sp>
    </p:spTree>
    <p:extLst>
      <p:ext uri="{BB962C8B-B14F-4D97-AF65-F5344CB8AC3E}">
        <p14:creationId xmlns:p14="http://schemas.microsoft.com/office/powerpoint/2010/main" val="15710261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9</a:t>
            </a:fld>
            <a:endParaRPr lang="en-US"/>
          </a:p>
        </p:txBody>
      </p:sp>
    </p:spTree>
    <p:extLst>
      <p:ext uri="{BB962C8B-B14F-4D97-AF65-F5344CB8AC3E}">
        <p14:creationId xmlns:p14="http://schemas.microsoft.com/office/powerpoint/2010/main" val="15602577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RBAC</a:t>
            </a:r>
          </a:p>
        </p:txBody>
      </p:sp>
      <p:sp>
        <p:nvSpPr>
          <p:cNvPr id="4" name="Slide Number Placeholder 3"/>
          <p:cNvSpPr>
            <a:spLocks noGrp="1"/>
          </p:cNvSpPr>
          <p:nvPr>
            <p:ph type="sldNum" sz="quarter" idx="5"/>
          </p:nvPr>
        </p:nvSpPr>
        <p:spPr/>
        <p:txBody>
          <a:bodyPr/>
          <a:lstStyle/>
          <a:p>
            <a:fld id="{B2172418-D9C9-2043-9217-E6B77BFECEB4}" type="slidenum">
              <a:rPr lang="en-US" smtClean="0"/>
              <a:t>10</a:t>
            </a:fld>
            <a:endParaRPr lang="en-US"/>
          </a:p>
        </p:txBody>
      </p:sp>
    </p:spTree>
    <p:extLst>
      <p:ext uri="{BB962C8B-B14F-4D97-AF65-F5344CB8AC3E}">
        <p14:creationId xmlns:p14="http://schemas.microsoft.com/office/powerpoint/2010/main" val="24576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13</a:t>
            </a:fld>
            <a:endParaRPr lang="en-US"/>
          </a:p>
        </p:txBody>
      </p:sp>
    </p:spTree>
    <p:extLst>
      <p:ext uri="{BB962C8B-B14F-4D97-AF65-F5344CB8AC3E}">
        <p14:creationId xmlns:p14="http://schemas.microsoft.com/office/powerpoint/2010/main" val="3943443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18</a:t>
            </a:fld>
            <a:endParaRPr lang="en-US"/>
          </a:p>
        </p:txBody>
      </p:sp>
    </p:spTree>
    <p:extLst>
      <p:ext uri="{BB962C8B-B14F-4D97-AF65-F5344CB8AC3E}">
        <p14:creationId xmlns:p14="http://schemas.microsoft.com/office/powerpoint/2010/main" val="23177968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0A1F6-09D7-75AE-D0D9-3A86924E6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E27637-DDD5-6F0A-8A56-87ADC3AAB9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68FAE-275E-D86C-AA4C-4D760763709C}"/>
              </a:ext>
            </a:extLst>
          </p:cNvPr>
          <p:cNvSpPr>
            <a:spLocks noGrp="1"/>
          </p:cNvSpPr>
          <p:nvPr>
            <p:ph type="body" idx="1"/>
          </p:nvPr>
        </p:nvSpPr>
        <p:spPr/>
        <p:txBody>
          <a:bodyPr/>
          <a:lstStyle/>
          <a:p>
            <a:r>
              <a:rPr lang="en-US" dirty="0"/>
              <a:t>Session</a:t>
            </a:r>
          </a:p>
        </p:txBody>
      </p:sp>
      <p:sp>
        <p:nvSpPr>
          <p:cNvPr id="4" name="Slide Number Placeholder 3">
            <a:extLst>
              <a:ext uri="{FF2B5EF4-FFF2-40B4-BE49-F238E27FC236}">
                <a16:creationId xmlns:a16="http://schemas.microsoft.com/office/drawing/2014/main" id="{E6E2BDA3-2419-75D3-47DB-859935DEC0D1}"/>
              </a:ext>
            </a:extLst>
          </p:cNvPr>
          <p:cNvSpPr>
            <a:spLocks noGrp="1"/>
          </p:cNvSpPr>
          <p:nvPr>
            <p:ph type="sldNum" sz="quarter" idx="5"/>
          </p:nvPr>
        </p:nvSpPr>
        <p:spPr/>
        <p:txBody>
          <a:bodyPr/>
          <a:lstStyle/>
          <a:p>
            <a:fld id="{B2172418-D9C9-2043-9217-E6B77BFECEB4}" type="slidenum">
              <a:rPr lang="en-US" smtClean="0"/>
              <a:t>19</a:t>
            </a:fld>
            <a:endParaRPr lang="en-US"/>
          </a:p>
        </p:txBody>
      </p:sp>
    </p:spTree>
    <p:extLst>
      <p:ext uri="{BB962C8B-B14F-4D97-AF65-F5344CB8AC3E}">
        <p14:creationId xmlns:p14="http://schemas.microsoft.com/office/powerpoint/2010/main" val="25831124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5B8C7-8CD7-1B3B-4550-40FB3AB787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91F78-DFC3-3FE7-E1B1-9B99C2216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5CC5E6-AE5A-8882-2348-768CC0352BB7}"/>
              </a:ext>
            </a:extLst>
          </p:cNvPr>
          <p:cNvSpPr>
            <a:spLocks noGrp="1"/>
          </p:cNvSpPr>
          <p:nvPr>
            <p:ph type="body" idx="1"/>
          </p:nvPr>
        </p:nvSpPr>
        <p:spPr/>
        <p:txBody>
          <a:bodyPr/>
          <a:lstStyle/>
          <a:p>
            <a:r>
              <a:rPr lang="en-US" dirty="0"/>
              <a:t>Purpose: Big data pipeline, </a:t>
            </a:r>
            <a:r>
              <a:rPr lang="en-US" dirty="0" err="1"/>
              <a:t>realtime</a:t>
            </a:r>
            <a:r>
              <a:rPr lang="en-US" dirty="0"/>
              <a:t> event-processing and data-distribution</a:t>
            </a:r>
          </a:p>
          <a:p>
            <a:r>
              <a:rPr lang="en-US" dirty="0"/>
              <a:t>Type: Event streaming (series). The series of event is the information carrier</a:t>
            </a:r>
          </a:p>
          <a:p>
            <a:r>
              <a:rPr lang="en-US" dirty="0"/>
              <a:t>When to use: Telemetry and distributed data streaming</a:t>
            </a:r>
          </a:p>
          <a:p>
            <a:r>
              <a:rPr lang="en-US" dirty="0"/>
              <a:t>Error handling: Read the log stream again from a certain offset or skip the offset. Tombstone certain records and move them to a dedicated stream.</a:t>
            </a:r>
          </a:p>
          <a:p>
            <a:br>
              <a:rPr lang="en-US" dirty="0"/>
            </a:br>
            <a:r>
              <a:rPr lang="en-US" dirty="0"/>
              <a:t>Azure Event Hubs is a big data streaming platform and event ingestion service. It can receive and process millions of events per second. It facilitates the capture, retention, and replay of telemetry and event stream data. The data can come from many concurrent sources. Event Hubs allows telemetry and event data to be made available to various stream-processing infrastructures and analytics services. It's available either as data streams or bundled event batches. This service provides a single solution that enables rapid data retrieval for real-time processing, and repeated replay of stored raw data. It can capture the streaming data into a file for processing and analysis.</a:t>
            </a:r>
          </a:p>
          <a:p>
            <a:br>
              <a:rPr lang="en-US" dirty="0"/>
            </a:br>
            <a:r>
              <a:rPr lang="en-US" dirty="0"/>
              <a:t>Azure Event Hubs is widely adopted in industries that produce high volumes of streaming data. The automotive sector, for example, frequently uses Event Hubs for connected vehicle telemetry. Other common applications include IoT telemetry from devices such as elevators, coffee machines (e.g., </a:t>
            </a:r>
            <a:r>
              <a:rPr lang="en-US" dirty="0" err="1"/>
              <a:t>Thermoplan</a:t>
            </a:r>
            <a:r>
              <a:rPr lang="en-US" dirty="0"/>
              <a:t>), and real-time data replication scenarios.</a:t>
            </a:r>
          </a:p>
          <a:p>
            <a:br>
              <a:rPr lang="en-US" dirty="0"/>
            </a:br>
            <a:r>
              <a:rPr lang="en-US" dirty="0"/>
              <a:t>Event Hubs is also commonly used alongside tools like Kafka and </a:t>
            </a:r>
            <a:r>
              <a:rPr lang="en-US" dirty="0" err="1"/>
              <a:t>Debezium</a:t>
            </a:r>
            <a:r>
              <a:rPr lang="en-US" dirty="0"/>
              <a:t> to implement change data capture (CDC), support outbox patterns, and enable the decoupling of monolithic databases into modular, event-driven components. It is particularly suited for high-throughput, append-only, time-ordered event ingestion.</a:t>
            </a:r>
          </a:p>
          <a:p>
            <a:endParaRPr lang="en-US" dirty="0"/>
          </a:p>
          <a:p>
            <a:r>
              <a:rPr lang="en-US" sz="1200" b="0" kern="1200" dirty="0">
                <a:solidFill>
                  <a:schemeClr val="tx1"/>
                </a:solidFill>
                <a:effectLst/>
                <a:latin typeface="+mn-lt"/>
                <a:ea typeface="+mn-ea"/>
                <a:cs typeface="+mn-cs"/>
              </a:rPr>
              <a:t>- Azure Event Hubs Standard (40 MB/sec ingress)</a:t>
            </a:r>
          </a:p>
          <a:p>
            <a:r>
              <a:rPr lang="en-US" sz="1200" b="0" kern="1200" dirty="0">
                <a:solidFill>
                  <a:schemeClr val="tx1"/>
                </a:solidFill>
                <a:effectLst/>
                <a:latin typeface="+mn-lt"/>
                <a:ea typeface="+mn-ea"/>
                <a:cs typeface="+mn-cs"/>
              </a:rPr>
              <a:t>- 1TU = min(1000 msg/s, 1MB/s in), min(2000 msg/s, 2MB/s out), 3 cents per hour per throughput unit, 3 cents per hour per 1 million operations</a:t>
            </a:r>
          </a:p>
          <a:p>
            <a:r>
              <a:rPr lang="en-US" sz="1200" b="0" kern="1200" dirty="0">
                <a:solidFill>
                  <a:schemeClr val="tx1"/>
                </a:solidFill>
                <a:effectLst/>
                <a:latin typeface="+mn-lt"/>
                <a:ea typeface="+mn-ea"/>
                <a:cs typeface="+mn-cs"/>
              </a:rPr>
              <a:t>- Shared-resource Model</a:t>
            </a:r>
          </a:p>
          <a:p>
            <a:r>
              <a:rPr lang="en-US" sz="1200" b="0" kern="1200" dirty="0">
                <a:solidFill>
                  <a:schemeClr val="tx1"/>
                </a:solidFill>
                <a:effectLst/>
                <a:latin typeface="+mn-lt"/>
                <a:ea typeface="+mn-ea"/>
                <a:cs typeface="+mn-cs"/>
              </a:rPr>
              <a:t>- Capacity and consumption-based pricing</a:t>
            </a:r>
          </a:p>
          <a:p>
            <a:r>
              <a:rPr lang="en-US" sz="1200" b="0" kern="1200" dirty="0">
                <a:solidFill>
                  <a:schemeClr val="tx1"/>
                </a:solidFill>
                <a:effectLst/>
                <a:latin typeface="+mn-lt"/>
                <a:ea typeface="+mn-ea"/>
                <a:cs typeface="+mn-cs"/>
              </a:rPr>
              <a:t>- Azure Event Hubs Premium (120 MB/sec ingress)</a:t>
            </a:r>
          </a:p>
          <a:p>
            <a:r>
              <a:rPr lang="en-US" sz="1200" b="0" kern="1200" dirty="0">
                <a:solidFill>
                  <a:schemeClr val="tx1"/>
                </a:solidFill>
                <a:effectLst/>
                <a:latin typeface="+mn-lt"/>
                <a:ea typeface="+mn-ea"/>
                <a:cs typeface="+mn-cs"/>
              </a:rPr>
              <a:t>- 1PU = ~5-10MB/sec throughput, 1,25 USD per hour per premium unit</a:t>
            </a:r>
          </a:p>
          <a:p>
            <a:r>
              <a:rPr lang="en-US" sz="1200" b="0" kern="1200" dirty="0">
                <a:solidFill>
                  <a:schemeClr val="tx1"/>
                </a:solidFill>
                <a:effectLst/>
                <a:latin typeface="+mn-lt"/>
                <a:ea typeface="+mn-ea"/>
                <a:cs typeface="+mn-cs"/>
              </a:rPr>
              <a:t>- Isolated-Resource Model</a:t>
            </a:r>
          </a:p>
          <a:p>
            <a:r>
              <a:rPr lang="en-US" sz="1200" b="0" kern="1200" dirty="0">
                <a:solidFill>
                  <a:schemeClr val="tx1"/>
                </a:solidFill>
                <a:effectLst/>
                <a:latin typeface="+mn-lt"/>
                <a:ea typeface="+mn-ea"/>
                <a:cs typeface="+mn-cs"/>
              </a:rPr>
              <a:t>- Capacity based pricing. No consumption charges</a:t>
            </a:r>
          </a:p>
          <a:p>
            <a:r>
              <a:rPr lang="en-US" sz="1200" b="0" kern="1200" dirty="0">
                <a:solidFill>
                  <a:schemeClr val="tx1"/>
                </a:solidFill>
                <a:effectLst/>
                <a:latin typeface="+mn-lt"/>
                <a:ea typeface="+mn-ea"/>
                <a:cs typeface="+mn-cs"/>
              </a:rPr>
              <a:t>- Azure Event Hubs Dedicated, 120MB/sec ingress (&gt;4 GB/sec in prod) </a:t>
            </a:r>
          </a:p>
          <a:p>
            <a:r>
              <a:rPr lang="en-US" sz="1200" b="0" kern="1200" dirty="0">
                <a:solidFill>
                  <a:schemeClr val="tx1"/>
                </a:solidFill>
                <a:effectLst/>
                <a:latin typeface="+mn-lt"/>
                <a:ea typeface="+mn-ea"/>
                <a:cs typeface="+mn-cs"/>
              </a:rPr>
              <a:t>- Capacity unit 6,4 USD per hour per capacity unit, operations included</a:t>
            </a:r>
          </a:p>
          <a:p>
            <a:r>
              <a:rPr lang="en-US" sz="1200" b="0" kern="1200" dirty="0">
                <a:solidFill>
                  <a:schemeClr val="tx1"/>
                </a:solidFill>
                <a:effectLst/>
                <a:latin typeface="+mn-lt"/>
                <a:ea typeface="+mn-ea"/>
                <a:cs typeface="+mn-cs"/>
              </a:rPr>
              <a:t>- 8 CU required for AZ</a:t>
            </a:r>
          </a:p>
          <a:p>
            <a:r>
              <a:rPr lang="en-US" sz="1200" b="0" kern="1200" dirty="0">
                <a:solidFill>
                  <a:schemeClr val="tx1"/>
                </a:solidFill>
                <a:effectLst/>
                <a:latin typeface="+mn-lt"/>
                <a:ea typeface="+mn-ea"/>
                <a:cs typeface="+mn-cs"/>
              </a:rPr>
              <a:t>- Dedicated-Resource Model</a:t>
            </a:r>
          </a:p>
          <a:p>
            <a:r>
              <a:rPr lang="en-US" sz="1200" b="0" kern="1200" dirty="0">
                <a:solidFill>
                  <a:schemeClr val="tx1"/>
                </a:solidFill>
                <a:effectLst/>
                <a:latin typeface="+mn-lt"/>
                <a:ea typeface="+mn-ea"/>
                <a:cs typeface="+mn-cs"/>
              </a:rPr>
              <a:t>- Same as premium but fully isolated cluster</a:t>
            </a:r>
          </a:p>
          <a:p>
            <a:endParaRPr lang="en-US" dirty="0"/>
          </a:p>
        </p:txBody>
      </p:sp>
      <p:sp>
        <p:nvSpPr>
          <p:cNvPr id="4" name="Slide Number Placeholder 3">
            <a:extLst>
              <a:ext uri="{FF2B5EF4-FFF2-40B4-BE49-F238E27FC236}">
                <a16:creationId xmlns:a16="http://schemas.microsoft.com/office/drawing/2014/main" id="{F4A03CFC-65E7-A848-B7BF-7F96A97E4B0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172418-D9C9-2043-9217-E6B77BFECEB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9504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23</a:t>
            </a:fld>
            <a:endParaRPr lang="en-US"/>
          </a:p>
        </p:txBody>
      </p:sp>
    </p:spTree>
    <p:extLst>
      <p:ext uri="{BB962C8B-B14F-4D97-AF65-F5344CB8AC3E}">
        <p14:creationId xmlns:p14="http://schemas.microsoft.com/office/powerpoint/2010/main" val="25477917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24</a:t>
            </a:fld>
            <a:endParaRPr lang="en-US"/>
          </a:p>
        </p:txBody>
      </p:sp>
    </p:spTree>
    <p:extLst>
      <p:ext uri="{BB962C8B-B14F-4D97-AF65-F5344CB8AC3E}">
        <p14:creationId xmlns:p14="http://schemas.microsoft.com/office/powerpoint/2010/main" val="2272594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26</a:t>
            </a:fld>
            <a:endParaRPr lang="en-US"/>
          </a:p>
        </p:txBody>
      </p:sp>
    </p:spTree>
    <p:extLst>
      <p:ext uri="{BB962C8B-B14F-4D97-AF65-F5344CB8AC3E}">
        <p14:creationId xmlns:p14="http://schemas.microsoft.com/office/powerpoint/2010/main" val="4010327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28</a:t>
            </a:fld>
            <a:endParaRPr lang="en-US"/>
          </a:p>
        </p:txBody>
      </p:sp>
    </p:spTree>
    <p:extLst>
      <p:ext uri="{BB962C8B-B14F-4D97-AF65-F5344CB8AC3E}">
        <p14:creationId xmlns:p14="http://schemas.microsoft.com/office/powerpoint/2010/main" val="32261340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Event Hubs IAM</a:t>
            </a:r>
          </a:p>
        </p:txBody>
      </p:sp>
      <p:sp>
        <p:nvSpPr>
          <p:cNvPr id="4" name="Slide Number Placeholder 3"/>
          <p:cNvSpPr>
            <a:spLocks noGrp="1"/>
          </p:cNvSpPr>
          <p:nvPr>
            <p:ph type="sldNum" sz="quarter" idx="5"/>
          </p:nvPr>
        </p:nvSpPr>
        <p:spPr/>
        <p:txBody>
          <a:bodyPr/>
          <a:lstStyle/>
          <a:p>
            <a:fld id="{B2172418-D9C9-2043-9217-E6B77BFECEB4}" type="slidenum">
              <a:rPr lang="en-US" smtClean="0"/>
              <a:t>29</a:t>
            </a:fld>
            <a:endParaRPr lang="en-US"/>
          </a:p>
        </p:txBody>
      </p:sp>
    </p:spTree>
    <p:extLst>
      <p:ext uri="{BB962C8B-B14F-4D97-AF65-F5344CB8AC3E}">
        <p14:creationId xmlns:p14="http://schemas.microsoft.com/office/powerpoint/2010/main" val="11323983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30</a:t>
            </a:fld>
            <a:endParaRPr lang="en-US"/>
          </a:p>
        </p:txBody>
      </p:sp>
    </p:spTree>
    <p:extLst>
      <p:ext uri="{BB962C8B-B14F-4D97-AF65-F5344CB8AC3E}">
        <p14:creationId xmlns:p14="http://schemas.microsoft.com/office/powerpoint/2010/main" val="32978978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31</a:t>
            </a:fld>
            <a:endParaRPr lang="en-US"/>
          </a:p>
        </p:txBody>
      </p:sp>
    </p:spTree>
    <p:extLst>
      <p:ext uri="{BB962C8B-B14F-4D97-AF65-F5344CB8AC3E}">
        <p14:creationId xmlns:p14="http://schemas.microsoft.com/office/powerpoint/2010/main" val="1822607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32</a:t>
            </a:fld>
            <a:endParaRPr lang="en-US"/>
          </a:p>
        </p:txBody>
      </p:sp>
    </p:spTree>
    <p:extLst>
      <p:ext uri="{BB962C8B-B14F-4D97-AF65-F5344CB8AC3E}">
        <p14:creationId xmlns:p14="http://schemas.microsoft.com/office/powerpoint/2010/main" val="33293979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33</a:t>
            </a:fld>
            <a:endParaRPr lang="en-US"/>
          </a:p>
        </p:txBody>
      </p:sp>
    </p:spTree>
    <p:extLst>
      <p:ext uri="{BB962C8B-B14F-4D97-AF65-F5344CB8AC3E}">
        <p14:creationId xmlns:p14="http://schemas.microsoft.com/office/powerpoint/2010/main" val="39056130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34</a:t>
            </a:fld>
            <a:endParaRPr lang="en-US"/>
          </a:p>
        </p:txBody>
      </p:sp>
    </p:spTree>
    <p:extLst>
      <p:ext uri="{BB962C8B-B14F-4D97-AF65-F5344CB8AC3E}">
        <p14:creationId xmlns:p14="http://schemas.microsoft.com/office/powerpoint/2010/main" val="41289798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36</a:t>
            </a:fld>
            <a:endParaRPr lang="en-US"/>
          </a:p>
        </p:txBody>
      </p:sp>
    </p:spTree>
    <p:extLst>
      <p:ext uri="{BB962C8B-B14F-4D97-AF65-F5344CB8AC3E}">
        <p14:creationId xmlns:p14="http://schemas.microsoft.com/office/powerpoint/2010/main" val="20354432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CF46E-464B-A0B4-D64C-26059795C4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F2C5D3-6ADB-06C2-7558-938D2B70C1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4409A0-AF63-7F8A-FF84-D910B58D7CBE}"/>
              </a:ext>
            </a:extLst>
          </p:cNvPr>
          <p:cNvSpPr>
            <a:spLocks noGrp="1"/>
          </p:cNvSpPr>
          <p:nvPr>
            <p:ph type="body" idx="1"/>
          </p:nvPr>
        </p:nvSpPr>
        <p:spPr/>
        <p:txBody>
          <a:bodyPr/>
          <a:lstStyle/>
          <a:p>
            <a:r>
              <a:rPr lang="en-US" sz="1200" b="0" kern="1200">
                <a:solidFill>
                  <a:schemeClr val="tx1"/>
                </a:solidFill>
                <a:effectLst/>
                <a:latin typeface="+mn-lt"/>
                <a:ea typeface="+mn-ea"/>
                <a:cs typeface="+mn-cs"/>
              </a:rPr>
              <a:t>Azure </a:t>
            </a:r>
            <a:r>
              <a:rPr lang="en-US" sz="1200" b="0" kern="1200" dirty="0">
                <a:solidFill>
                  <a:schemeClr val="tx1"/>
                </a:solidFill>
                <a:effectLst/>
                <a:latin typeface="+mn-lt"/>
                <a:ea typeface="+mn-ea"/>
                <a:cs typeface="+mn-cs"/>
              </a:rPr>
              <a:t>Event Grid is a highly scalable, fully managed Pub Sub message distribution service that offers flexible message consumption patterns using the Message Queueing Telemetry Transport (MQTT) and HTTP protocols. With Azure Event Grid, you can build data pipelines with device data, integrate applications, and build event-driven serverless architectures.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service provides an </a:t>
            </a:r>
            <a:r>
              <a:rPr lang="en-US" sz="1200" b="0" kern="1200" dirty="0" err="1">
                <a:solidFill>
                  <a:schemeClr val="tx1"/>
                </a:solidFill>
                <a:effectLst/>
                <a:latin typeface="+mn-lt"/>
                <a:ea typeface="+mn-ea"/>
                <a:cs typeface="+mn-cs"/>
              </a:rPr>
              <a:t>eventing</a:t>
            </a:r>
            <a:r>
              <a:rPr lang="en-US" sz="1200" b="0" kern="1200" dirty="0">
                <a:solidFill>
                  <a:schemeClr val="tx1"/>
                </a:solidFill>
                <a:effectLst/>
                <a:latin typeface="+mn-lt"/>
                <a:ea typeface="+mn-ea"/>
                <a:cs typeface="+mn-cs"/>
              </a:rPr>
              <a:t> backbone that enables event-driven and reactive programming. It uses the publish-subscribe model. Publishers emit events, but have no expectation about how the events are handled. Subscribers decide on which events they want to handle.</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Event Grid is deeply integrated with other Azure services and can be integrated with third-party services. It simplifies event consumption and lowers costs by eliminating the need for constant polling. Event Grid efficiently and reliably routes events from Azure and non-Azure resources. It distributes the events to registered subscriber endpoints. The event message has the information you need to react to changes in services and applications.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- 4 cents per throughput unit per hour</a:t>
            </a:r>
          </a:p>
          <a:p>
            <a:r>
              <a:rPr lang="en-US" sz="1200" b="0" kern="1200" dirty="0">
                <a:solidFill>
                  <a:schemeClr val="tx1"/>
                </a:solidFill>
                <a:effectLst/>
                <a:latin typeface="+mn-lt"/>
                <a:ea typeface="+mn-ea"/>
                <a:cs typeface="+mn-cs"/>
              </a:rPr>
              <a:t>- 6 cents per million events (1 Million included)</a:t>
            </a:r>
          </a:p>
          <a:p>
            <a:endParaRPr lang="en-US" sz="1200" b="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0A530D0A-AF48-35A3-22D9-2DDDFA30EB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172418-D9C9-2043-9217-E6B77BFECEB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3054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41</a:t>
            </a:fld>
            <a:endParaRPr lang="en-US"/>
          </a:p>
        </p:txBody>
      </p:sp>
    </p:spTree>
    <p:extLst>
      <p:ext uri="{BB962C8B-B14F-4D97-AF65-F5344CB8AC3E}">
        <p14:creationId xmlns:p14="http://schemas.microsoft.com/office/powerpoint/2010/main" val="4234927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42</a:t>
            </a:fld>
            <a:endParaRPr lang="en-US"/>
          </a:p>
        </p:txBody>
      </p:sp>
    </p:spTree>
    <p:extLst>
      <p:ext uri="{BB962C8B-B14F-4D97-AF65-F5344CB8AC3E}">
        <p14:creationId xmlns:p14="http://schemas.microsoft.com/office/powerpoint/2010/main" val="37657395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b="1" dirty="0"/>
              <a:t>Service Composition:</a:t>
            </a:r>
            <a:r>
              <a:rPr lang="en-US" dirty="0"/>
              <a:t> Event Grid, Service Bus, and Event Hub can be composed for flexible use cases.</a:t>
            </a:r>
          </a:p>
          <a:p>
            <a:r>
              <a:rPr lang="en-US" b="1" dirty="0"/>
              <a:t>Event Emission and Quick Reaction:</a:t>
            </a:r>
            <a:endParaRPr lang="en-US" dirty="0"/>
          </a:p>
          <a:p>
            <a:pPr>
              <a:buFont typeface="Arial" panose="020B0604020202020204" pitchFamily="34" charset="0"/>
              <a:buChar char="•"/>
            </a:pPr>
            <a:r>
              <a:rPr lang="en-US" dirty="0"/>
              <a:t>Service Bus and Event Hub emit events to Event Grid when queues or subscriptions activate after idle periods.</a:t>
            </a:r>
          </a:p>
          <a:p>
            <a:pPr>
              <a:buFont typeface="Arial" panose="020B0604020202020204" pitchFamily="34" charset="0"/>
              <a:buChar char="•"/>
            </a:pPr>
            <a:r>
              <a:rPr lang="en-US" dirty="0"/>
              <a:t>Event Grid triggers functions to spin up job processors, saving resources when messages are sporadic or high-value but infrequent.</a:t>
            </a:r>
          </a:p>
          <a:p>
            <a:r>
              <a:rPr lang="en-US" b="1" dirty="0"/>
              <a:t>Event Hub Capture Integration:</a:t>
            </a:r>
            <a:r>
              <a:rPr lang="en-US" dirty="0"/>
              <a:t> Event Hub emits Grid events when a Capture package is stored in Azure Storage, triggering functions for processing or moving the package.</a:t>
            </a:r>
          </a:p>
          <a:p>
            <a:r>
              <a:rPr lang="en-US" b="1" dirty="0"/>
              <a:t>Routing Grid Events to Service Bus or Event Hubs:</a:t>
            </a:r>
            <a:endParaRPr lang="en-US" dirty="0"/>
          </a:p>
          <a:p>
            <a:pPr>
              <a:buFont typeface="Arial" panose="020B0604020202020204" pitchFamily="34" charset="0"/>
              <a:buChar char="•"/>
            </a:pPr>
            <a:r>
              <a:rPr lang="en-US" dirty="0"/>
              <a:t>Events can be routed into Service Bus queues or topics for scenarios requiring:</a:t>
            </a:r>
          </a:p>
          <a:p>
            <a:pPr marL="742950" lvl="1" indent="-285750">
              <a:buFont typeface="Arial" panose="020B0604020202020204" pitchFamily="34" charset="0"/>
              <a:buChar char="•"/>
            </a:pPr>
            <a:r>
              <a:rPr lang="en-US" b="1" dirty="0"/>
              <a:t>Hybrid Cloud Solutions:</a:t>
            </a:r>
            <a:r>
              <a:rPr lang="en-US" dirty="0"/>
              <a:t> On-premises services can monitor Azure Storage via Service Bus queues.</a:t>
            </a:r>
          </a:p>
          <a:p>
            <a:pPr marL="742950" lvl="1" indent="-285750">
              <a:buFont typeface="Arial" panose="020B0604020202020204" pitchFamily="34" charset="0"/>
              <a:buChar char="•"/>
            </a:pPr>
            <a:r>
              <a:rPr lang="en-US" b="1" dirty="0"/>
              <a:t>Costly or Long-Running Processing:</a:t>
            </a:r>
            <a:r>
              <a:rPr lang="en-US" dirty="0"/>
              <a:t> Service Bus allows for extended processing time without risking event acknowledgment failures.</a:t>
            </a:r>
          </a:p>
          <a:p>
            <a:r>
              <a:rPr lang="en-US" b="1" dirty="0"/>
              <a:t>Statistical Analysis with Event Hubs:</a:t>
            </a:r>
            <a:endParaRPr lang="en-US" dirty="0"/>
          </a:p>
          <a:p>
            <a:pPr>
              <a:buFont typeface="Arial" panose="020B0604020202020204" pitchFamily="34" charset="0"/>
              <a:buChar char="•"/>
            </a:pPr>
            <a:r>
              <a:rPr lang="en-US" dirty="0"/>
              <a:t>Grid events can be selectively routed to Event Hubs for analytics.</a:t>
            </a:r>
          </a:p>
          <a:p>
            <a:pPr>
              <a:buFont typeface="Arial" panose="020B0604020202020204" pitchFamily="34" charset="0"/>
              <a:buChar char="•"/>
            </a:pPr>
            <a:r>
              <a:rPr lang="en-US" dirty="0"/>
              <a:t>Event Hub Capture provides an archival solution for Grid events, enabling easy integration with analytics channels.</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3E1E47-3DD7-43FC-89E9-23237525F7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66112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Because use cases often overlap, Service Bus, Event Hub, and Event Grid can be composed. </a:t>
            </a:r>
            <a:br>
              <a:rPr lang="en-US" dirty="0"/>
            </a:br>
            <a:endParaRPr lang="en-US" dirty="0"/>
          </a:p>
          <a:p>
            <a:pPr>
              <a:buNone/>
            </a:pPr>
            <a:r>
              <a:rPr lang="en-US" b="1" dirty="0"/>
              <a:t>First</a:t>
            </a:r>
            <a:r>
              <a:rPr lang="en-US" dirty="0"/>
              <a:t>, both Service Bus and Event Hub can emit events to Event Grid, enabling applications to react to changes efficiently. For example, when a queue or subscription receives a message after being idle, it emits a Grid event. This can trigger a function to spin up a processor, ideal for infrequent but high-value messages—saving resources by only running services when needed. Similarly, Event Hub emits a Grid event when a Capture package lands in Azure Storage, which can trigger processing or transfer functions.</a:t>
            </a:r>
          </a:p>
          <a:p>
            <a:pPr>
              <a:buNone/>
            </a:pPr>
            <a:endParaRPr lang="en-US" dirty="0"/>
          </a:p>
          <a:p>
            <a:pPr>
              <a:buNone/>
            </a:pPr>
            <a:r>
              <a:rPr lang="en-US" b="1" dirty="0"/>
              <a:t>Second</a:t>
            </a:r>
            <a:r>
              <a:rPr lang="en-US" dirty="0"/>
              <a:t>, Event Grid can route events into Service Bus or Event Hubs. For instance, an on-premises service in a hybrid setup can listen on a Service Bus queue subscribed to Azure Storage events, enabling it to react to new files. This model is useful for time/resource-intensive or failure-prone processing, since Service Bus supports longer processing durations with message locks.</a:t>
            </a:r>
          </a:p>
          <a:p>
            <a:pPr>
              <a:buNone/>
            </a:pPr>
            <a:br>
              <a:rPr lang="en-US" dirty="0"/>
            </a:br>
            <a:r>
              <a:rPr lang="en-US" dirty="0"/>
              <a:t>Event Grid events can also be selectively routed to Event Hubs for analytics or archival via Event Hub Capture—no extra code required.</a:t>
            </a:r>
          </a:p>
        </p:txBody>
      </p:sp>
      <p:sp>
        <p:nvSpPr>
          <p:cNvPr id="4" name="Slide Number Placeholder 3"/>
          <p:cNvSpPr>
            <a:spLocks noGrp="1"/>
          </p:cNvSpPr>
          <p:nvPr>
            <p:ph type="sldNum" sz="quarter" idx="5"/>
          </p:nvPr>
        </p:nvSpPr>
        <p:spPr/>
        <p:txBody>
          <a:bodyPr/>
          <a:lstStyle/>
          <a:p>
            <a:fld id="{2DBA657F-BF3E-4BC8-BD58-D0B03B862583}" type="slidenum">
              <a:rPr lang="en-US" smtClean="0"/>
              <a:t>56</a:t>
            </a:fld>
            <a:endParaRPr lang="en-US"/>
          </a:p>
        </p:txBody>
      </p:sp>
    </p:spTree>
    <p:extLst>
      <p:ext uri="{BB962C8B-B14F-4D97-AF65-F5344CB8AC3E}">
        <p14:creationId xmlns:p14="http://schemas.microsoft.com/office/powerpoint/2010/main" val="32096468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57</a:t>
            </a:fld>
            <a:endParaRPr lang="en-US"/>
          </a:p>
        </p:txBody>
      </p:sp>
    </p:spTree>
    <p:extLst>
      <p:ext uri="{BB962C8B-B14F-4D97-AF65-F5344CB8AC3E}">
        <p14:creationId xmlns:p14="http://schemas.microsoft.com/office/powerpoint/2010/main" val="898206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7BB6D-2FC2-A876-DC49-6BE63F976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5F3C8-C694-5C86-D1FA-A14CE2CF9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F98DF-C809-DCDC-2727-06B731DA15E0}"/>
              </a:ext>
            </a:extLst>
          </p:cNvPr>
          <p:cNvSpPr>
            <a:spLocks noGrp="1"/>
          </p:cNvSpPr>
          <p:nvPr>
            <p:ph type="body" idx="1"/>
          </p:nvPr>
        </p:nvSpPr>
        <p:spPr/>
        <p:txBody>
          <a:bodyPr/>
          <a:lstStyle/>
          <a:p>
            <a:pPr>
              <a:buNone/>
            </a:pPr>
            <a:endParaRPr lang="en-US" dirty="0"/>
          </a:p>
        </p:txBody>
      </p:sp>
      <p:sp>
        <p:nvSpPr>
          <p:cNvPr id="4" name="Slide Number Placeholder 3">
            <a:extLst>
              <a:ext uri="{FF2B5EF4-FFF2-40B4-BE49-F238E27FC236}">
                <a16:creationId xmlns:a16="http://schemas.microsoft.com/office/drawing/2014/main" id="{93D94765-BA07-B50C-FF8A-3F1C717C3ED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BA657F-BF3E-4BC8-BD58-D0B03B86258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034857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67DF4-9F47-64B3-9983-DDB7BA592BA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FB21735-AB2A-7DBD-CCB0-42B0F1D1CDA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4365165-24B8-313B-5C39-6B492082314F}"/>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A611F44E-596F-DC1C-0413-5C8516C1B2A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BA657F-BF3E-4BC8-BD58-D0B03B862583}" type="slidenum">
              <a:rPr kumimoji="0" lang="de-DE"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de-D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43591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DFE02-DAB1-8606-31A2-E306CF6B44A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F0203E-EE19-AE0E-4AD7-D302C1BAAC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B464D5D-5599-4DF4-CED8-6DCFB82407BA}"/>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5BBAE704-B2FC-C12C-55CD-B6B4FE8F05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86798A-8DC2-09CA-AA2E-A0F253AF36E9}"/>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3011667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74487-FD76-37D2-5988-58FB548F507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276704-6332-AAE9-504F-33D55F9584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F5C42B-0431-BA85-E7C4-11719F9F3BE3}"/>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412BA568-DE1A-8C6F-044F-3934F66194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2FC012-6792-F728-094F-AB2226573911}"/>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941790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A4335-74DA-B5F9-767F-C4458F992A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4C0074B-A041-9857-5FB4-86F589018F3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AE4D3E-6D09-E739-BBFF-D414726CA30A}"/>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96A89AF9-543E-F732-BA61-C8A1C2187F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E450E2-2BDC-648E-F000-827798FDA206}"/>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282117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08AAC-B892-4719-9803-08FECBBCCF5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35E70A-DFC6-D608-D047-180088A8789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AA1EB8-6949-9CA1-0DC5-C7A98756D3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CD6EC51-4055-44B9-BEE0-347F94C3D73A}"/>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6" name="Footer Placeholder 5">
            <a:extLst>
              <a:ext uri="{FF2B5EF4-FFF2-40B4-BE49-F238E27FC236}">
                <a16:creationId xmlns:a16="http://schemas.microsoft.com/office/drawing/2014/main" id="{7AA286B0-7F6E-5F38-7D3A-7A65DD78D0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2BB962-ECC3-0ECA-A98B-654C16E9A8E1}"/>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669080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95F4E-8767-9FE8-39D5-7AD086A537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C5194E-21D1-B25B-E0DD-37BCC818AC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A7A20A-8322-77D5-20BE-CEF0188E7A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94B4918-19E0-4044-1A15-ADAAA7C5C59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93A5AE1-446C-6889-9E21-DC538A2DE2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38D7065-E30B-6E36-D13F-7E54330FAFB8}"/>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8" name="Footer Placeholder 7">
            <a:extLst>
              <a:ext uri="{FF2B5EF4-FFF2-40B4-BE49-F238E27FC236}">
                <a16:creationId xmlns:a16="http://schemas.microsoft.com/office/drawing/2014/main" id="{8A005CDD-1D91-721E-B49A-C28F522B763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CDA0F19-DA5E-ACD0-EB59-B3B14DBAE03B}"/>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11988248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2D325-33FA-3CB5-2DB7-D64413B7AF6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C38E68-AFD9-3517-7747-649133CB554A}"/>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4" name="Footer Placeholder 3">
            <a:extLst>
              <a:ext uri="{FF2B5EF4-FFF2-40B4-BE49-F238E27FC236}">
                <a16:creationId xmlns:a16="http://schemas.microsoft.com/office/drawing/2014/main" id="{9DF16BE6-0830-4DC7-BE33-150A11BC658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890E3E-D9B6-84A1-1EF6-D0EDCF721985}"/>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4503099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41F59D-3CB5-D671-BE61-7A8A7B83222E}"/>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3" name="Footer Placeholder 2">
            <a:extLst>
              <a:ext uri="{FF2B5EF4-FFF2-40B4-BE49-F238E27FC236}">
                <a16:creationId xmlns:a16="http://schemas.microsoft.com/office/drawing/2014/main" id="{AB0601EA-DE58-A096-8E3C-247D4A6D058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7D763B-2A43-7974-D2FE-CDE65E2D2D8A}"/>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6823537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9366-BF99-F8CD-44E4-D6DCCD547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91C7B69-67B7-8531-8700-AD90D92288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E5E12-617D-1A17-29A2-849A64E817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98A203-D325-B3B2-5067-1E4287E480C3}"/>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6" name="Footer Placeholder 5">
            <a:extLst>
              <a:ext uri="{FF2B5EF4-FFF2-40B4-BE49-F238E27FC236}">
                <a16:creationId xmlns:a16="http://schemas.microsoft.com/office/drawing/2014/main" id="{56E63BA7-F9D0-F7DC-1621-02FF8543E4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4BCEEE-0158-912E-065B-2F002480EB2E}"/>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3091143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67AC6-078E-7A6A-8796-AC6F00F21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221835-9D16-52E4-2DDA-30C1348BFC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EC15203-928D-9BCD-4948-DB62C5BB20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465D86-34D7-22EB-CE33-257FFD389155}"/>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6" name="Footer Placeholder 5">
            <a:extLst>
              <a:ext uri="{FF2B5EF4-FFF2-40B4-BE49-F238E27FC236}">
                <a16:creationId xmlns:a16="http://schemas.microsoft.com/office/drawing/2014/main" id="{1941D86F-EB1D-1E4C-3F48-3836B91765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C54ECE-AE62-86F6-79BC-09DB621D5717}"/>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9463512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B500-356D-478A-98EE-CF0B97DD144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3CD8896-CAAA-5C1E-DA39-854E99AF99F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029358-4982-675E-0270-EB93B4E73036}"/>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C40B7F54-FA2D-FC88-CD72-594D0FD44F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758C55-DA1A-4499-0D85-18F663F70EF7}"/>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7846862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8D0F461-D66D-CE20-E681-58180D04930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38755-BD8D-F44C-A10D-11DF20815F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3EE51EB-6645-DE69-4466-9F1B9237407C}"/>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690657FB-3A4C-F48B-9834-9BEDC4F0BD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EDF1AC-92BC-43E7-6EC5-39942ADF2448}"/>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8584589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848520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3421299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54533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5/23/25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3623133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5/23/25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5359151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5/23/25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907489185"/>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5/23/25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894076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7626153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B61BEF0D-F0BB-DE4B-95CE-6DB70DBA9567}" type="datetimeFigureOut">
              <a:rPr lang="en-US" dirty="0"/>
              <a:pPr/>
              <a:t>5/23/25</a:t>
            </a:fld>
            <a:endParaRPr lang="en-US"/>
          </a:p>
        </p:txBody>
      </p:sp>
      <p:sp>
        <p:nvSpPr>
          <p:cNvPr id="6" name="Footer Placeholder 5"/>
          <p:cNvSpPr>
            <a:spLocks noGrp="1"/>
          </p:cNvSpPr>
          <p:nvPr>
            <p:ph type="ftr" sz="quarter" idx="11"/>
          </p:nvPr>
        </p:nvSpPr>
        <p:spPr>
          <a:xfrm>
            <a:off x="1141412" y="5883275"/>
            <a:ext cx="5105400" cy="365125"/>
          </a:xfrm>
        </p:spPr>
        <p:txBody>
          <a:bodyPr/>
          <a:lstStyle/>
          <a:p>
            <a:endParaRPr lang="en-US"/>
          </a:p>
        </p:txBody>
      </p:sp>
      <p:sp>
        <p:nvSpPr>
          <p:cNvPr id="7" name="Slide Number Placeholder 6"/>
          <p:cNvSpPr>
            <a:spLocks noGrp="1"/>
          </p:cNvSpPr>
          <p:nvPr>
            <p:ph type="sldNum" sz="quarter" idx="12"/>
          </p:nvPr>
        </p:nvSpPr>
        <p:spPr>
          <a:xfrm>
            <a:off x="10742612" y="5883275"/>
            <a:ext cx="322567" cy="365125"/>
          </a:xfrm>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1188115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41569937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5206400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6346300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p>
        </p:txBody>
      </p:sp>
      <p:sp>
        <p:nvSpPr>
          <p:cNvPr id="3" name="Text Placeholder 2"/>
          <p:cNvSpPr>
            <a:spLocks noGrp="1"/>
          </p:cNvSpPr>
          <p:nvPr>
            <p:ph type="body" idx="1"/>
          </p:nvPr>
        </p:nvSpPr>
        <p:spPr>
          <a:xfrm>
            <a:off x="1141410" y="4777381"/>
            <a:ext cx="9906001"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2492566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1243238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solidFill>
                  <a:schemeClr val="tx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27031040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43180747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7240654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Title_Only">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9A223F9-C5CF-D745-BDCE-40996D9891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D369CE8-1E88-A946-A2FD-A59A617E4FED}"/>
              </a:ext>
              <a:ext uri="{C183D7F6-B498-43B3-948B-1728B52AA6E4}">
                <adec:decorative xmlns:adec="http://schemas.microsoft.com/office/drawing/2017/decorative" val="1"/>
              </a:ext>
            </a:extLst>
          </p:cNvPr>
          <p:cNvSpPr>
            <a:spLocks noGrp="1"/>
          </p:cNvSpPr>
          <p:nvPr>
            <p:ph type="dt" sz="half" idx="10"/>
          </p:nvPr>
        </p:nvSpPr>
        <p:spPr/>
        <p:txBody>
          <a:bodyPr/>
          <a:lstStyle/>
          <a:p>
            <a:fld id="{3FD94470-A0E2-47D9-835D-A70369D3D28C}" type="datetimeFigureOut">
              <a:rPr lang="en-CA" smtClean="0"/>
              <a:t>2025-05-23</a:t>
            </a:fld>
            <a:endParaRPr lang="en-CA"/>
          </a:p>
        </p:txBody>
      </p:sp>
    </p:spTree>
    <p:extLst>
      <p:ext uri="{BB962C8B-B14F-4D97-AF65-F5344CB8AC3E}">
        <p14:creationId xmlns:p14="http://schemas.microsoft.com/office/powerpoint/2010/main" val="49427117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STATEMENT">
    <p:spTree>
      <p:nvGrpSpPr>
        <p:cNvPr id="1" name=""/>
        <p:cNvGrpSpPr/>
        <p:nvPr/>
      </p:nvGrpSpPr>
      <p:grpSpPr>
        <a:xfrm>
          <a:off x="0" y="0"/>
          <a:ext cx="0" cy="0"/>
          <a:chOff x="0" y="0"/>
          <a:chExt cx="0" cy="0"/>
        </a:xfrm>
      </p:grpSpPr>
      <p:sp>
        <p:nvSpPr>
          <p:cNvPr id="5" name="Footer Placeholder 6" hidden="1"/>
          <p:cNvSpPr txBox="1">
            <a:spLocks/>
          </p:cNvSpPr>
          <p:nvPr userDrawn="1"/>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5" name="Text Placeholder 3"/>
          <p:cNvSpPr>
            <a:spLocks noGrp="1"/>
          </p:cNvSpPr>
          <p:nvPr>
            <p:ph idx="1" hasCustomPrompt="1"/>
          </p:nvPr>
        </p:nvSpPr>
        <p:spPr>
          <a:xfrm>
            <a:off x="457200" y="457200"/>
            <a:ext cx="11277599" cy="5638800"/>
          </a:xfrm>
          <a:prstGeom prst="rect">
            <a:avLst/>
          </a:prstGeom>
        </p:spPr>
        <p:txBody>
          <a:bodyPr vert="horz" lIns="0" tIns="0" rIns="0" bIns="91440" rtlCol="0" anchor="ctr" anchorCtr="0">
            <a:normAutofit/>
          </a:bodyPr>
          <a:lstStyle>
            <a:lvl1pPr>
              <a:lnSpc>
                <a:spcPct val="110000"/>
              </a:lnSpc>
              <a:defRPr sz="4400" b="1" i="0">
                <a:solidFill>
                  <a:schemeClr val="tx1"/>
                </a:solidFill>
                <a:latin typeface="Segoe UI Semibold" panose="020B0702040204020203" pitchFamily="34" charset="0"/>
                <a:ea typeface="Segoe UI Semibold" panose="020B0702040204020203" pitchFamily="34" charset="0"/>
                <a:cs typeface="Segoe UI Semibold" panose="020B0702040204020203" pitchFamily="34" charset="0"/>
              </a:defRPr>
            </a:lvl1pPr>
            <a:lvl2pPr>
              <a:lnSpc>
                <a:spcPct val="110000"/>
              </a:lnSpc>
              <a:defRPr sz="2400" b="0" i="0">
                <a:solidFill>
                  <a:schemeClr val="tx1"/>
                </a:solidFill>
                <a:latin typeface="Segoe UI" panose="020B0502040204020203" pitchFamily="34" charset="0"/>
                <a:ea typeface="Segoe UI" panose="020B0502040204020203" pitchFamily="34" charset="0"/>
                <a:cs typeface="Segoe UI" panose="020B0502040204020203" pitchFamily="34" charset="0"/>
              </a:defRPr>
            </a:lvl2pPr>
            <a:lvl3pPr>
              <a:lnSpc>
                <a:spcPct val="110000"/>
              </a:lnSpc>
              <a:defRPr sz="2400" b="0" i="0">
                <a:solidFill>
                  <a:schemeClr val="tx1"/>
                </a:solidFill>
                <a:latin typeface="Segoe UI" panose="020B0502040204020203" pitchFamily="34" charset="0"/>
                <a:ea typeface="Segoe UI" panose="020B0502040204020203" pitchFamily="34" charset="0"/>
                <a:cs typeface="Segoe UI" panose="020B0502040204020203" pitchFamily="34" charset="0"/>
              </a:defRPr>
            </a:lvl3pPr>
            <a:lvl4pPr>
              <a:defRPr>
                <a:solidFill>
                  <a:schemeClr val="bg2">
                    <a:lumMod val="60000"/>
                    <a:lumOff val="40000"/>
                  </a:schemeClr>
                </a:solidFill>
              </a:defRPr>
            </a:lvl4pPr>
          </a:lstStyle>
          <a:p>
            <a:pPr lvl="0"/>
            <a:r>
              <a:rPr lang="en-US" dirty="0"/>
              <a:t>Click to edit Subhead Master text styles</a:t>
            </a:r>
          </a:p>
          <a:p>
            <a:pPr lvl="1"/>
            <a:r>
              <a:rPr lang="en-US" dirty="0"/>
              <a:t>Second level</a:t>
            </a:r>
          </a:p>
          <a:p>
            <a:pPr lvl="2"/>
            <a:r>
              <a:rPr lang="en-US" dirty="0"/>
              <a:t>Third level</a:t>
            </a:r>
          </a:p>
        </p:txBody>
      </p:sp>
      <p:sp>
        <p:nvSpPr>
          <p:cNvPr id="2" name="Slide Number Placeholder 1">
            <a:extLst>
              <a:ext uri="{FF2B5EF4-FFF2-40B4-BE49-F238E27FC236}">
                <a16:creationId xmlns:a16="http://schemas.microsoft.com/office/drawing/2014/main" id="{9FF4F531-1753-1544-8A42-F788362A04E3}"/>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380508871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Content">
    <p:spTree>
      <p:nvGrpSpPr>
        <p:cNvPr id="1" name=""/>
        <p:cNvGrpSpPr/>
        <p:nvPr/>
      </p:nvGrpSpPr>
      <p:grpSpPr>
        <a:xfrm>
          <a:off x="0" y="0"/>
          <a:ext cx="0" cy="0"/>
          <a:chOff x="0" y="0"/>
          <a:chExt cx="0" cy="0"/>
        </a:xfrm>
      </p:grpSpPr>
      <p:sp>
        <p:nvSpPr>
          <p:cNvPr id="5" name="Footer Placeholder 6" hidden="1"/>
          <p:cNvSpPr txBox="1">
            <a:spLocks/>
          </p:cNvSpPr>
          <p:nvPr/>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2" name="Title Placeholder 2">
            <a:extLst>
              <a:ext uri="{FF2B5EF4-FFF2-40B4-BE49-F238E27FC236}">
                <a16:creationId xmlns:a16="http://schemas.microsoft.com/office/drawing/2014/main" id="{E901D344-ED89-49CF-99A7-86594AEA4B3F}"/>
              </a:ext>
            </a:extLst>
          </p:cNvPr>
          <p:cNvSpPr>
            <a:spLocks noGrp="1"/>
          </p:cNvSpPr>
          <p:nvPr>
            <p:ph type="title"/>
          </p:nvPr>
        </p:nvSpPr>
        <p:spPr>
          <a:xfrm>
            <a:off x="457200" y="457200"/>
            <a:ext cx="11277599" cy="635000"/>
          </a:xfrm>
          <a:prstGeom prst="rect">
            <a:avLst/>
          </a:prstGeom>
        </p:spPr>
        <p:txBody>
          <a:bodyPr vert="horz" lIns="0" tIns="0" rIns="0" bIns="0" rtlCol="0" anchor="t">
            <a:normAutofit/>
          </a:bodyPr>
          <a:lstStyle>
            <a:lvl1pPr>
              <a:defRPr sz="4400" b="1" i="0">
                <a:solidFill>
                  <a:schemeClr val="tx1"/>
                </a:solidFill>
                <a:latin typeface="Segoe UI Semibold" panose="020B0702040204020203" pitchFamily="34" charset="0"/>
                <a:ea typeface="Segoe UI Semibold" panose="020B0702040204020203" pitchFamily="34" charset="0"/>
                <a:cs typeface="Segoe UI Semibold" panose="020B0702040204020203" pitchFamily="34" charset="0"/>
              </a:defRPr>
            </a:lvl1pPr>
          </a:lstStyle>
          <a:p>
            <a:r>
              <a:rPr lang="en-US" dirty="0"/>
              <a:t>Click to edit Master title style</a:t>
            </a:r>
          </a:p>
        </p:txBody>
      </p:sp>
      <p:sp>
        <p:nvSpPr>
          <p:cNvPr id="6" name="Subtitle 2">
            <a:extLst>
              <a:ext uri="{FF2B5EF4-FFF2-40B4-BE49-F238E27FC236}">
                <a16:creationId xmlns:a16="http://schemas.microsoft.com/office/drawing/2014/main" id="{BA99162F-3F7B-2242-A1B2-486A63B6C5DF}"/>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Slide Number Placeholder 1">
            <a:extLst>
              <a:ext uri="{FF2B5EF4-FFF2-40B4-BE49-F238E27FC236}">
                <a16:creationId xmlns:a16="http://schemas.microsoft.com/office/drawing/2014/main" id="{9FF4F531-1753-1544-8A42-F788362A04E3}"/>
              </a:ext>
            </a:extLst>
          </p:cNvPr>
          <p:cNvSpPr>
            <a:spLocks noGrp="1"/>
          </p:cNvSpPr>
          <p:nvPr>
            <p:ph type="sldNum" sz="quarter" idx="28"/>
          </p:nvPr>
        </p:nvSpPr>
        <p:spPr/>
        <p:txBody>
          <a:bodyPr/>
          <a:lstStyle/>
          <a:p>
            <a:fld id="{529AFA16-AEC4-7D4A-82F3-BDAE8E49079E}" type="slidenum">
              <a:rPr lang="en-US" smtClean="0"/>
              <a:pPr/>
              <a:t>‹#›</a:t>
            </a:fld>
            <a:endParaRPr lang="en-US"/>
          </a:p>
        </p:txBody>
      </p:sp>
      <p:sp>
        <p:nvSpPr>
          <p:cNvPr id="7" name="Footer Placeholder 6" hidden="1">
            <a:extLst>
              <a:ext uri="{FF2B5EF4-FFF2-40B4-BE49-F238E27FC236}">
                <a16:creationId xmlns:a16="http://schemas.microsoft.com/office/drawing/2014/main" id="{288157B8-476F-EA4F-A047-5A8BD09DED6D}"/>
              </a:ext>
            </a:extLst>
          </p:cNvPr>
          <p:cNvSpPr txBox="1">
            <a:spLocks/>
          </p:cNvSpPr>
          <p:nvPr userDrawn="1"/>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0" name="Text Placeholder 3">
            <a:extLst>
              <a:ext uri="{FF2B5EF4-FFF2-40B4-BE49-F238E27FC236}">
                <a16:creationId xmlns:a16="http://schemas.microsoft.com/office/drawing/2014/main" id="{9113A430-F6A1-4E86-9240-781A33179C75}"/>
              </a:ext>
            </a:extLst>
          </p:cNvPr>
          <p:cNvSpPr>
            <a:spLocks noGrp="1"/>
          </p:cNvSpPr>
          <p:nvPr>
            <p:ph idx="32"/>
          </p:nvPr>
        </p:nvSpPr>
        <p:spPr>
          <a:xfrm>
            <a:off x="457200" y="1866900"/>
            <a:ext cx="11277599" cy="4514047"/>
          </a:xfrm>
          <a:prstGeom prst="rect">
            <a:avLst/>
          </a:prstGeom>
        </p:spPr>
        <p:txBody>
          <a:bodyPr vert="horz" wrap="square"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205378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column">
    <p:spTree>
      <p:nvGrpSpPr>
        <p:cNvPr id="1" name=""/>
        <p:cNvGrpSpPr/>
        <p:nvPr/>
      </p:nvGrpSpPr>
      <p:grpSpPr>
        <a:xfrm>
          <a:off x="0" y="0"/>
          <a:ext cx="0" cy="0"/>
          <a:chOff x="0" y="0"/>
          <a:chExt cx="0" cy="0"/>
        </a:xfrm>
      </p:grpSpPr>
      <p:sp>
        <p:nvSpPr>
          <p:cNvPr id="11" name="Title Placeholder 2">
            <a:extLst>
              <a:ext uri="{FF2B5EF4-FFF2-40B4-BE49-F238E27FC236}">
                <a16:creationId xmlns:a16="http://schemas.microsoft.com/office/drawing/2014/main" id="{9AFD44FB-5EE2-4D3E-9C7F-A0CA74B39F11}"/>
              </a:ext>
            </a:extLst>
          </p:cNvPr>
          <p:cNvSpPr>
            <a:spLocks noGrp="1"/>
          </p:cNvSpPr>
          <p:nvPr>
            <p:ph type="title"/>
          </p:nvPr>
        </p:nvSpPr>
        <p:spPr>
          <a:xfrm>
            <a:off x="457200" y="457200"/>
            <a:ext cx="11277599" cy="594360"/>
          </a:xfrm>
          <a:prstGeom prst="rect">
            <a:avLst/>
          </a:prstGeom>
        </p:spPr>
        <p:txBody>
          <a:bodyPr vert="horz" lIns="0" tIns="0" rIns="0" bIns="0" rtlCol="0" anchor="t">
            <a:normAutofit/>
          </a:bodyPr>
          <a:lstStyle>
            <a:lvl1pPr>
              <a:defRPr sz="4400" b="1" i="0">
                <a:solidFill>
                  <a:schemeClr val="tx1"/>
                </a:solidFill>
                <a:latin typeface="Segoe Pro Semibold" charset="0"/>
                <a:ea typeface="Segoe Pro Semibold" charset="0"/>
                <a:cs typeface="Segoe Pro Semibold" charset="0"/>
              </a:defRPr>
            </a:lvl1pPr>
          </a:lstStyle>
          <a:p>
            <a:r>
              <a:rPr lang="en-US"/>
              <a:t>Click to edit Master title style</a:t>
            </a:r>
          </a:p>
        </p:txBody>
      </p:sp>
      <p:sp>
        <p:nvSpPr>
          <p:cNvPr id="6" name="Subtitle 2">
            <a:extLst>
              <a:ext uri="{FF2B5EF4-FFF2-40B4-BE49-F238E27FC236}">
                <a16:creationId xmlns:a16="http://schemas.microsoft.com/office/drawing/2014/main" id="{AC21BB0E-11FF-4849-A437-1A08AE905469}"/>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Slide Number Placeholder 1">
            <a:extLst>
              <a:ext uri="{FF2B5EF4-FFF2-40B4-BE49-F238E27FC236}">
                <a16:creationId xmlns:a16="http://schemas.microsoft.com/office/drawing/2014/main" id="{6E8743FE-41B9-984E-A69D-ECABFEB0E741}"/>
              </a:ext>
            </a:extLst>
          </p:cNvPr>
          <p:cNvSpPr>
            <a:spLocks noGrp="1"/>
          </p:cNvSpPr>
          <p:nvPr>
            <p:ph type="sldNum" sz="quarter" idx="32"/>
          </p:nvPr>
        </p:nvSpPr>
        <p:spPr/>
        <p:txBody>
          <a:bodyPr/>
          <a:lstStyle/>
          <a:p>
            <a:fld id="{BEB35CCB-FF49-4788-B761-7608AB55A0BC}" type="slidenum">
              <a:rPr lang="en-US" smtClean="0"/>
              <a:t>‹#›</a:t>
            </a:fld>
            <a:endParaRPr lang="en-US"/>
          </a:p>
        </p:txBody>
      </p:sp>
      <p:sp>
        <p:nvSpPr>
          <p:cNvPr id="10" name="Text Placeholder 3">
            <a:extLst>
              <a:ext uri="{FF2B5EF4-FFF2-40B4-BE49-F238E27FC236}">
                <a16:creationId xmlns:a16="http://schemas.microsoft.com/office/drawing/2014/main" id="{527732AA-D7B1-48A6-8C12-8974C5F0A104}"/>
              </a:ext>
            </a:extLst>
          </p:cNvPr>
          <p:cNvSpPr>
            <a:spLocks noGrp="1"/>
          </p:cNvSpPr>
          <p:nvPr>
            <p:ph idx="26"/>
          </p:nvPr>
        </p:nvSpPr>
        <p:spPr>
          <a:xfrm>
            <a:off x="6111904" y="1866900"/>
            <a:ext cx="5622896" cy="4514047"/>
          </a:xfrm>
          <a:prstGeom prst="rect">
            <a:avLst/>
          </a:prstGeom>
        </p:spPr>
        <p:txBody>
          <a:bodyPr vert="horz" wrap="square"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3">
            <a:extLst>
              <a:ext uri="{FF2B5EF4-FFF2-40B4-BE49-F238E27FC236}">
                <a16:creationId xmlns:a16="http://schemas.microsoft.com/office/drawing/2014/main" id="{C3475C84-786C-409E-B9CE-2261308DA6EF}"/>
              </a:ext>
            </a:extLst>
          </p:cNvPr>
          <p:cNvSpPr>
            <a:spLocks noGrp="1"/>
          </p:cNvSpPr>
          <p:nvPr>
            <p:ph idx="33"/>
          </p:nvPr>
        </p:nvSpPr>
        <p:spPr>
          <a:xfrm>
            <a:off x="465151" y="1866900"/>
            <a:ext cx="5646753" cy="4514047"/>
          </a:xfrm>
          <a:prstGeom prst="rect">
            <a:avLst/>
          </a:prstGeom>
        </p:spPr>
        <p:txBody>
          <a:bodyPr vert="horz" wrap="square"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9048598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Content Small Title">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800"/>
            </a:lvl1pPr>
          </a:lstStyle>
          <a:p>
            <a:r>
              <a:rPr lang="en-US" dirty="0"/>
              <a:t>Click to edit Master title style</a:t>
            </a:r>
          </a:p>
        </p:txBody>
      </p:sp>
      <p:sp>
        <p:nvSpPr>
          <p:cNvPr id="6" name="Slide Number Placeholder 5">
            <a:extLst>
              <a:ext uri="{FF2B5EF4-FFF2-40B4-BE49-F238E27FC236}">
                <a16:creationId xmlns:a16="http://schemas.microsoft.com/office/drawing/2014/main" id="{AF9386A6-1B24-F24E-ACF1-EA03F8741407}"/>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365649397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Title + Sub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1"/>
            <a:ext cx="11277599" cy="594360"/>
          </a:xfrm>
        </p:spPr>
        <p:txBody>
          <a:bodyPr>
            <a:normAutofit/>
          </a:bodyPr>
          <a:lstStyle>
            <a:lvl1pPr>
              <a:defRPr sz="4400"/>
            </a:lvl1pPr>
          </a:lstStyle>
          <a:p>
            <a:r>
              <a:rPr lang="en-US"/>
              <a:t>Click to edit Master title style</a:t>
            </a:r>
          </a:p>
        </p:txBody>
      </p:sp>
      <p:sp>
        <p:nvSpPr>
          <p:cNvPr id="5" name="Subtitle 2">
            <a:extLst>
              <a:ext uri="{FF2B5EF4-FFF2-40B4-BE49-F238E27FC236}">
                <a16:creationId xmlns:a16="http://schemas.microsoft.com/office/drawing/2014/main" id="{7D5C19BA-6DD0-2341-932F-962FA328D5D7}"/>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6" name="Slide Number Placeholder 5">
            <a:extLst>
              <a:ext uri="{FF2B5EF4-FFF2-40B4-BE49-F238E27FC236}">
                <a16:creationId xmlns:a16="http://schemas.microsoft.com/office/drawing/2014/main" id="{AF9386A6-1B24-F24E-ACF1-EA03F8741407}"/>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172598684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1CBCB5-F62F-435C-A913-4F0A4C74D6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4333D83-E0D0-4532-0F83-02459B69FC3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F98378-41B2-A437-33E7-ECD7AF4885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E05B905E-036D-43DB-2093-3A4826EFB9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268D345-F4E0-7209-7AD7-621FD32146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61CCF4-0D91-3B47-AA6F-C4921ABA0D91}" type="slidenum">
              <a:rPr lang="en-US" smtClean="0"/>
              <a:t>‹#›</a:t>
            </a:fld>
            <a:endParaRPr lang="en-US"/>
          </a:p>
        </p:txBody>
      </p:sp>
    </p:spTree>
    <p:extLst>
      <p:ext uri="{BB962C8B-B14F-4D97-AF65-F5344CB8AC3E}">
        <p14:creationId xmlns:p14="http://schemas.microsoft.com/office/powerpoint/2010/main" val="35458432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a:t>
            </a:r>
          </a:p>
          <a:p>
            <a:pPr lvl="6"/>
            <a:r>
              <a:rPr lang="en-US"/>
              <a:t>Seven</a:t>
            </a:r>
          </a:p>
          <a:p>
            <a:pPr lvl="7"/>
            <a:r>
              <a:rPr lang="en-US"/>
              <a:t>Eight</a:t>
            </a:r>
          </a:p>
          <a:p>
            <a:pPr lvl="8"/>
            <a:r>
              <a:rPr lang="en-US"/>
              <a:t>nine</a:t>
            </a:r>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B61BEF0D-F0BB-DE4B-95CE-6DB70DBA9567}" type="datetimeFigureOut">
              <a:rPr lang="en-US" dirty="0"/>
              <a:pPr/>
              <a:t>5/23/25</a:t>
            </a:fld>
            <a:endParaRPr lang="en-US"/>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US"/>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D57F1E4F-1CFF-5643-939E-217C01CDF565}" type="slidenum">
              <a:rPr lang="en-US" dirty="0"/>
              <a:pPr/>
              <a:t>‹#›</a:t>
            </a:fld>
            <a:endParaRPr lang="en-US"/>
          </a:p>
        </p:txBody>
      </p:sp>
    </p:spTree>
    <p:extLst>
      <p:ext uri="{BB962C8B-B14F-4D97-AF65-F5344CB8AC3E}">
        <p14:creationId xmlns:p14="http://schemas.microsoft.com/office/powerpoint/2010/main" val="1209645407"/>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p:txStyles>
    <p:titleStyle>
      <a:lvl1pPr algn="l" defTabSz="457200" rtl="0" eaLnBrk="1" latinLnBrk="0" hangingPunct="1">
        <a:spcBef>
          <a:spcPct val="0"/>
        </a:spcBef>
        <a:buNone/>
        <a:defRPr sz="3200" kern="1200" cap="all">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00000"/>
        <a:buFont typeface="Arial"/>
        <a:buChar char="•"/>
        <a:defRPr sz="20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00000"/>
        <a:buFont typeface="Arial"/>
        <a:buChar char="•"/>
        <a:defRPr sz="18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00000"/>
        <a:buFont typeface="Arial"/>
        <a:buChar char="•"/>
        <a:defRPr sz="16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2.jp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49.jp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5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fik 3" descr="Ein Bild, das draußen, Gras, Himmel, Pflanze enthält.&#10;&#10;Beschreibung automatisch generiert.">
            <a:extLst>
              <a:ext uri="{FF2B5EF4-FFF2-40B4-BE49-F238E27FC236}">
                <a16:creationId xmlns:a16="http://schemas.microsoft.com/office/drawing/2014/main" id="{32CEF6C6-D0FB-C1E7-A808-E53736914C94}"/>
              </a:ext>
            </a:extLst>
          </p:cNvPr>
          <p:cNvPicPr>
            <a:picLocks noChangeAspect="1"/>
          </p:cNvPicPr>
          <p:nvPr/>
        </p:nvPicPr>
        <p:blipFill rotWithShape="1">
          <a:blip r:embed="rId3"/>
          <a:srcRect t="9091" r="13818"/>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p:cNvSpPr>
            <a:spLocks noGrp="1"/>
          </p:cNvSpPr>
          <p:nvPr>
            <p:ph type="ctrTitle"/>
          </p:nvPr>
        </p:nvSpPr>
        <p:spPr>
          <a:xfrm>
            <a:off x="477980" y="1122363"/>
            <a:ext cx="8668512" cy="3204134"/>
          </a:xfrm>
        </p:spPr>
        <p:txBody>
          <a:bodyPr anchor="b">
            <a:normAutofit/>
          </a:bodyPr>
          <a:lstStyle/>
          <a:p>
            <a:pPr algn="l"/>
            <a:r>
              <a:rPr lang="de-DE" sz="4000" dirty="0" err="1">
                <a:solidFill>
                  <a:schemeClr val="bg1"/>
                </a:solidFill>
                <a:cs typeface="Calibri Light"/>
              </a:rPr>
              <a:t>Navigating</a:t>
            </a:r>
            <a:r>
              <a:rPr lang="de-DE" sz="4000" dirty="0">
                <a:solidFill>
                  <a:schemeClr val="bg1"/>
                </a:solidFill>
                <a:cs typeface="Calibri Light"/>
              </a:rPr>
              <a:t> </a:t>
            </a:r>
            <a:r>
              <a:rPr lang="de-DE" sz="4000" dirty="0" err="1">
                <a:solidFill>
                  <a:schemeClr val="bg1"/>
                </a:solidFill>
                <a:cs typeface="Calibri Light"/>
              </a:rPr>
              <a:t>through</a:t>
            </a:r>
            <a:r>
              <a:rPr lang="de-DE" sz="4800" dirty="0">
                <a:solidFill>
                  <a:schemeClr val="bg1"/>
                </a:solidFill>
                <a:cs typeface="Calibri Light"/>
              </a:rPr>
              <a:t> </a:t>
            </a:r>
            <a:r>
              <a:rPr lang="de-DE" sz="4000" dirty="0" err="1">
                <a:solidFill>
                  <a:schemeClr val="bg1"/>
                </a:solidFill>
                <a:cs typeface="Calibri Light"/>
              </a:rPr>
              <a:t>the</a:t>
            </a:r>
            <a:br>
              <a:rPr lang="de-DE" sz="4000" dirty="0">
                <a:solidFill>
                  <a:schemeClr val="bg1"/>
                </a:solidFill>
                <a:cs typeface="Calibri Light"/>
              </a:rPr>
            </a:br>
            <a:r>
              <a:rPr lang="de-DE" sz="4800" dirty="0">
                <a:solidFill>
                  <a:schemeClr val="accent2"/>
                </a:solidFill>
                <a:cs typeface="Calibri Light"/>
              </a:rPr>
              <a:t>Azure Messaging</a:t>
            </a:r>
            <a:br>
              <a:rPr lang="de-DE" sz="4800" dirty="0">
                <a:solidFill>
                  <a:schemeClr val="accent2"/>
                </a:solidFill>
                <a:cs typeface="Calibri Light"/>
              </a:rPr>
            </a:br>
            <a:r>
              <a:rPr lang="de-DE" sz="4000" dirty="0">
                <a:solidFill>
                  <a:schemeClr val="bg1"/>
                </a:solidFill>
                <a:cs typeface="Calibri Light"/>
              </a:rPr>
              <a:t>(</a:t>
            </a:r>
            <a:r>
              <a:rPr lang="de-DE" sz="4000" dirty="0" err="1">
                <a:solidFill>
                  <a:schemeClr val="bg1"/>
                </a:solidFill>
                <a:cs typeface="Calibri Light"/>
              </a:rPr>
              <a:t>over</a:t>
            </a:r>
            <a:r>
              <a:rPr lang="de-DE" sz="4000" dirty="0">
                <a:solidFill>
                  <a:schemeClr val="bg1"/>
                </a:solidFill>
                <a:cs typeface="Calibri Light"/>
              </a:rPr>
              <a:t>)</a:t>
            </a:r>
            <a:r>
              <a:rPr lang="de-DE" sz="4000" dirty="0" err="1">
                <a:solidFill>
                  <a:schemeClr val="bg1"/>
                </a:solidFill>
                <a:cs typeface="Calibri Light"/>
              </a:rPr>
              <a:t>choice</a:t>
            </a:r>
            <a:endParaRPr lang="de-DE" sz="4800" dirty="0">
              <a:solidFill>
                <a:schemeClr val="bg1"/>
              </a:solidFill>
              <a:cs typeface="Calibri Light"/>
            </a:endParaRPr>
          </a:p>
        </p:txBody>
      </p:sp>
      <p:sp>
        <p:nvSpPr>
          <p:cNvPr id="3" name="Untertitel 2"/>
          <p:cNvSpPr>
            <a:spLocks noGrp="1"/>
          </p:cNvSpPr>
          <p:nvPr>
            <p:ph type="subTitle" idx="1"/>
          </p:nvPr>
        </p:nvSpPr>
        <p:spPr>
          <a:xfrm>
            <a:off x="477980" y="4872922"/>
            <a:ext cx="4023359" cy="1208141"/>
          </a:xfrm>
        </p:spPr>
        <p:txBody>
          <a:bodyPr>
            <a:normAutofit/>
          </a:bodyPr>
          <a:lstStyle/>
          <a:p>
            <a:pPr algn="l"/>
            <a:r>
              <a:rPr lang="de-DE" sz="2000" dirty="0" err="1">
                <a:solidFill>
                  <a:schemeClr val="accent2"/>
                </a:solidFill>
              </a:rPr>
              <a:t>daniel.marbach@particular.net</a:t>
            </a:r>
            <a:endParaRPr lang="de-DE" sz="2000" dirty="0">
              <a:solidFill>
                <a:schemeClr val="accent2"/>
              </a:solidFill>
            </a:endParaRPr>
          </a:p>
        </p:txBody>
      </p:sp>
      <p:sp>
        <p:nvSpPr>
          <p:cNvPr id="19" name="Rectangle 1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7499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 name="Rectangle 1032">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5" name="Rectangle 1034">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7" name="Rectangle 1036">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F9F5C5F6-F5CB-F769-3912-664A6F610CE4}"/>
              </a:ext>
            </a:extLst>
          </p:cNvPr>
          <p:cNvSpPr txBox="1"/>
          <p:nvPr/>
        </p:nvSpPr>
        <p:spPr>
          <a:xfrm>
            <a:off x="1127208" y="857251"/>
            <a:ext cx="4747280" cy="3098061"/>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4800" kern="1200">
                <a:solidFill>
                  <a:srgbClr val="FFFFFF"/>
                </a:solidFill>
                <a:latin typeface="+mj-lt"/>
                <a:ea typeface="+mj-ea"/>
                <a:cs typeface="+mj-cs"/>
              </a:rPr>
              <a:t>Azure Service Bus</a:t>
            </a:r>
          </a:p>
        </p:txBody>
      </p:sp>
      <p:sp>
        <p:nvSpPr>
          <p:cNvPr id="1039" name="Rectangle 1038">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Oval 1040">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Pricing - Service Bus | Microsoft Azure">
            <a:extLst>
              <a:ext uri="{FF2B5EF4-FFF2-40B4-BE49-F238E27FC236}">
                <a16:creationId xmlns:a16="http://schemas.microsoft.com/office/drawing/2014/main" id="{1F831F82-E81E-FFBC-51B4-94B485469C7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20559" y="2455138"/>
            <a:ext cx="3737164" cy="1962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4484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33DA5C85-9FA4-1746-65F4-689C1EBA9514}"/>
              </a:ext>
            </a:extLst>
          </p:cNvPr>
          <p:cNvPicPr>
            <a:picLocks noChangeAspect="1"/>
          </p:cNvPicPr>
          <p:nvPr/>
        </p:nvPicPr>
        <p:blipFill>
          <a:blip r:embed="rId3"/>
          <a:stretch>
            <a:fillRect/>
          </a:stretch>
        </p:blipFill>
        <p:spPr>
          <a:xfrm>
            <a:off x="1097280" y="-1"/>
            <a:ext cx="9997440" cy="7682243"/>
          </a:xfrm>
          <a:prstGeom prst="rect">
            <a:avLst/>
          </a:prstGeom>
        </p:spPr>
      </p:pic>
    </p:spTree>
    <p:extLst>
      <p:ext uri="{BB962C8B-B14F-4D97-AF65-F5344CB8AC3E}">
        <p14:creationId xmlns:p14="http://schemas.microsoft.com/office/powerpoint/2010/main" val="10836777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1750671-0F9B-0268-3E74-3E55EA29B43E}"/>
              </a:ext>
            </a:extLst>
          </p:cNvPr>
          <p:cNvPicPr>
            <a:picLocks noChangeAspect="1"/>
          </p:cNvPicPr>
          <p:nvPr/>
        </p:nvPicPr>
        <p:blipFill>
          <a:blip r:embed="rId2"/>
          <a:stretch>
            <a:fillRect/>
          </a:stretch>
        </p:blipFill>
        <p:spPr>
          <a:xfrm>
            <a:off x="-1" y="1600200"/>
            <a:ext cx="12060195" cy="3657600"/>
          </a:xfrm>
          <a:prstGeom prst="rect">
            <a:avLst/>
          </a:prstGeom>
        </p:spPr>
      </p:pic>
    </p:spTree>
    <p:extLst>
      <p:ext uri="{BB962C8B-B14F-4D97-AF65-F5344CB8AC3E}">
        <p14:creationId xmlns:p14="http://schemas.microsoft.com/office/powerpoint/2010/main" val="32180981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03A69E-77D8-D58D-3FDF-7FA7A93283D3}"/>
              </a:ext>
            </a:extLst>
          </p:cNvPr>
          <p:cNvPicPr>
            <a:picLocks noChangeAspect="1"/>
          </p:cNvPicPr>
          <p:nvPr/>
        </p:nvPicPr>
        <p:blipFill>
          <a:blip r:embed="rId2"/>
          <a:stretch>
            <a:fillRect/>
          </a:stretch>
        </p:blipFill>
        <p:spPr>
          <a:xfrm>
            <a:off x="-1" y="769670"/>
            <a:ext cx="12164463" cy="5318661"/>
          </a:xfrm>
          <a:prstGeom prst="rect">
            <a:avLst/>
          </a:prstGeom>
        </p:spPr>
      </p:pic>
      <p:sp>
        <p:nvSpPr>
          <p:cNvPr id="3" name="Right Arrow 2">
            <a:extLst>
              <a:ext uri="{FF2B5EF4-FFF2-40B4-BE49-F238E27FC236}">
                <a16:creationId xmlns:a16="http://schemas.microsoft.com/office/drawing/2014/main" id="{6C44AD07-018A-FE20-54B3-1B44D9172A15}"/>
              </a:ext>
            </a:extLst>
          </p:cNvPr>
          <p:cNvSpPr/>
          <p:nvPr/>
        </p:nvSpPr>
        <p:spPr>
          <a:xfrm>
            <a:off x="1752600" y="29210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7016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A4CB01D-ED5B-D745-02FA-D6635471860F}"/>
              </a:ext>
            </a:extLst>
          </p:cNvPr>
          <p:cNvPicPr>
            <a:picLocks noChangeAspect="1"/>
          </p:cNvPicPr>
          <p:nvPr/>
        </p:nvPicPr>
        <p:blipFill>
          <a:blip r:embed="rId2"/>
          <a:stretch>
            <a:fillRect/>
          </a:stretch>
        </p:blipFill>
        <p:spPr>
          <a:xfrm>
            <a:off x="71862" y="795070"/>
            <a:ext cx="12048276" cy="5267861"/>
          </a:xfrm>
          <a:prstGeom prst="rect">
            <a:avLst/>
          </a:prstGeom>
        </p:spPr>
      </p:pic>
      <p:sp>
        <p:nvSpPr>
          <p:cNvPr id="3" name="Right Arrow 2">
            <a:extLst>
              <a:ext uri="{FF2B5EF4-FFF2-40B4-BE49-F238E27FC236}">
                <a16:creationId xmlns:a16="http://schemas.microsoft.com/office/drawing/2014/main" id="{74F3B7E5-AAEC-7F09-9D10-5C795BF1AE25}"/>
              </a:ext>
            </a:extLst>
          </p:cNvPr>
          <p:cNvSpPr/>
          <p:nvPr/>
        </p:nvSpPr>
        <p:spPr>
          <a:xfrm>
            <a:off x="1727200" y="38735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63788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9FC6AC-4A12-4825-8ABE-0732B8EF4D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B4236C0-5D95-F348-E3E9-F604920DFA00}"/>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32168747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62F36F2-7B7D-570D-334B-9B47E793A9FE}"/>
              </a:ext>
            </a:extLst>
          </p:cNvPr>
          <p:cNvPicPr>
            <a:picLocks noChangeAspect="1"/>
          </p:cNvPicPr>
          <p:nvPr/>
        </p:nvPicPr>
        <p:blipFill>
          <a:blip r:embed="rId3"/>
          <a:stretch>
            <a:fillRect/>
          </a:stretch>
        </p:blipFill>
        <p:spPr>
          <a:xfrm>
            <a:off x="57150" y="209760"/>
            <a:ext cx="12077700" cy="6438480"/>
          </a:xfrm>
          <a:prstGeom prst="rect">
            <a:avLst/>
          </a:prstGeom>
        </p:spPr>
      </p:pic>
      <p:sp>
        <p:nvSpPr>
          <p:cNvPr id="2" name="Title 1">
            <a:extLst>
              <a:ext uri="{FF2B5EF4-FFF2-40B4-BE49-F238E27FC236}">
                <a16:creationId xmlns:a16="http://schemas.microsoft.com/office/drawing/2014/main" id="{91AD474D-D445-D2D5-5F00-B946B1D473B8}"/>
              </a:ext>
            </a:extLst>
          </p:cNvPr>
          <p:cNvSpPr>
            <a:spLocks noGrp="1"/>
          </p:cNvSpPr>
          <p:nvPr>
            <p:ph type="title"/>
          </p:nvPr>
        </p:nvSpPr>
        <p:spPr/>
        <p:txBody>
          <a:bodyPr/>
          <a:lstStyle/>
          <a:p>
            <a:endParaRPr lang="en-US"/>
          </a:p>
        </p:txBody>
      </p:sp>
      <p:pic>
        <p:nvPicPr>
          <p:cNvPr id="8" name="Content Placeholder 7" descr="Alarm Ringing with solid fill">
            <a:extLst>
              <a:ext uri="{FF2B5EF4-FFF2-40B4-BE49-F238E27FC236}">
                <a16:creationId xmlns:a16="http://schemas.microsoft.com/office/drawing/2014/main" id="{339F08AD-95DE-0920-00AD-364123E7C6F4}"/>
              </a:ext>
            </a:extLst>
          </p:cNvPr>
          <p:cNvPicPr>
            <a:picLocks noGrp="1" noChangeAspect="1"/>
          </p:cNvPicPr>
          <p:nvPr>
            <p:ph idx="1"/>
          </p:nvPr>
        </p:nvPicPr>
        <p:blipFill>
          <a:blip r:embed="rId4">
            <a:extLst>
              <a:ext uri="{96DAC541-7B7A-43D3-8B79-37D633B846F1}">
                <asvg:svgBlip xmlns:asvg="http://schemas.microsoft.com/office/drawing/2016/SVG/main" r:embed="rId5"/>
              </a:ext>
            </a:extLst>
          </a:blip>
          <a:stretch>
            <a:fillRect/>
          </a:stretch>
        </p:blipFill>
        <p:spPr>
          <a:xfrm>
            <a:off x="2324100" y="4744244"/>
            <a:ext cx="914400" cy="914400"/>
          </a:xfrm>
        </p:spPr>
      </p:pic>
      <p:sp>
        <p:nvSpPr>
          <p:cNvPr id="6" name="Right Arrow 5">
            <a:extLst>
              <a:ext uri="{FF2B5EF4-FFF2-40B4-BE49-F238E27FC236}">
                <a16:creationId xmlns:a16="http://schemas.microsoft.com/office/drawing/2014/main" id="{850B46B7-13C1-5C25-A847-46DA1BE55ED4}"/>
              </a:ext>
            </a:extLst>
          </p:cNvPr>
          <p:cNvSpPr/>
          <p:nvPr/>
        </p:nvSpPr>
        <p:spPr>
          <a:xfrm>
            <a:off x="7991475" y="3200400"/>
            <a:ext cx="619125" cy="3048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5080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70B758A-9E99-1A28-C8BC-1D11D83E4483}"/>
              </a:ext>
            </a:extLst>
          </p:cNvPr>
          <p:cNvPicPr>
            <a:picLocks noChangeAspect="1"/>
          </p:cNvPicPr>
          <p:nvPr/>
        </p:nvPicPr>
        <p:blipFill>
          <a:blip r:embed="rId3"/>
          <a:srcRect t="8100"/>
          <a:stretch/>
        </p:blipFill>
        <p:spPr>
          <a:xfrm>
            <a:off x="642937" y="4822"/>
            <a:ext cx="10515599" cy="6853178"/>
          </a:xfrm>
          <a:prstGeom prst="rect">
            <a:avLst/>
          </a:prstGeom>
        </p:spPr>
      </p:pic>
      <p:sp>
        <p:nvSpPr>
          <p:cNvPr id="2" name="Title 1">
            <a:extLst>
              <a:ext uri="{FF2B5EF4-FFF2-40B4-BE49-F238E27FC236}">
                <a16:creationId xmlns:a16="http://schemas.microsoft.com/office/drawing/2014/main" id="{5DCF24E0-E9BC-84DC-1438-CE2B0E25592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7F71935-30DD-ECF8-0C2D-6DE16BF95EDA}"/>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9F44ACCF-BEA7-0B93-E691-2C882EBE9EEB}"/>
              </a:ext>
            </a:extLst>
          </p:cNvPr>
          <p:cNvPicPr>
            <a:picLocks noChangeAspect="1"/>
          </p:cNvPicPr>
          <p:nvPr/>
        </p:nvPicPr>
        <p:blipFill>
          <a:blip r:embed="rId4"/>
          <a:stretch>
            <a:fillRect/>
          </a:stretch>
        </p:blipFill>
        <p:spPr>
          <a:xfrm>
            <a:off x="-1" y="1384425"/>
            <a:ext cx="12145043" cy="4073399"/>
          </a:xfrm>
          <a:prstGeom prst="rect">
            <a:avLst/>
          </a:prstGeom>
        </p:spPr>
      </p:pic>
      <p:grpSp>
        <p:nvGrpSpPr>
          <p:cNvPr id="11" name="Group 10">
            <a:extLst>
              <a:ext uri="{FF2B5EF4-FFF2-40B4-BE49-F238E27FC236}">
                <a16:creationId xmlns:a16="http://schemas.microsoft.com/office/drawing/2014/main" id="{91F99012-9DC9-FEE8-AEF0-47BD416C3C74}"/>
              </a:ext>
            </a:extLst>
          </p:cNvPr>
          <p:cNvGrpSpPr/>
          <p:nvPr/>
        </p:nvGrpSpPr>
        <p:grpSpPr>
          <a:xfrm>
            <a:off x="642937" y="0"/>
            <a:ext cx="10906125" cy="6858224"/>
            <a:chOff x="642937" y="0"/>
            <a:chExt cx="10906125" cy="6858224"/>
          </a:xfrm>
        </p:grpSpPr>
        <p:pic>
          <p:nvPicPr>
            <p:cNvPr id="4" name="Picture 3">
              <a:extLst>
                <a:ext uri="{FF2B5EF4-FFF2-40B4-BE49-F238E27FC236}">
                  <a16:creationId xmlns:a16="http://schemas.microsoft.com/office/drawing/2014/main" id="{0E4B6277-361C-793B-4C6A-64A60AD442A9}"/>
                </a:ext>
              </a:extLst>
            </p:cNvPr>
            <p:cNvPicPr>
              <a:picLocks noChangeAspect="1"/>
            </p:cNvPicPr>
            <p:nvPr/>
          </p:nvPicPr>
          <p:blipFill>
            <a:blip r:embed="rId5"/>
            <a:stretch>
              <a:fillRect/>
            </a:stretch>
          </p:blipFill>
          <p:spPr>
            <a:xfrm>
              <a:off x="642937" y="0"/>
              <a:ext cx="10906125" cy="6858224"/>
            </a:xfrm>
            <a:prstGeom prst="rect">
              <a:avLst/>
            </a:prstGeom>
          </p:spPr>
        </p:pic>
        <p:sp>
          <p:nvSpPr>
            <p:cNvPr id="7" name="Right Arrow 6">
              <a:extLst>
                <a:ext uri="{FF2B5EF4-FFF2-40B4-BE49-F238E27FC236}">
                  <a16:creationId xmlns:a16="http://schemas.microsoft.com/office/drawing/2014/main" id="{35E121BC-B901-3B78-09CA-D77D60134FC9}"/>
                </a:ext>
              </a:extLst>
            </p:cNvPr>
            <p:cNvSpPr/>
            <p:nvPr/>
          </p:nvSpPr>
          <p:spPr>
            <a:xfrm>
              <a:off x="2476500" y="5727586"/>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8" name="Right Arrow 7">
              <a:extLst>
                <a:ext uri="{FF2B5EF4-FFF2-40B4-BE49-F238E27FC236}">
                  <a16:creationId xmlns:a16="http://schemas.microsoft.com/office/drawing/2014/main" id="{3B29DE58-DAD7-6299-315B-455F234405BB}"/>
                </a:ext>
              </a:extLst>
            </p:cNvPr>
            <p:cNvSpPr/>
            <p:nvPr/>
          </p:nvSpPr>
          <p:spPr>
            <a:xfrm rot="1704765">
              <a:off x="3537501" y="4199510"/>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9" name="Right Arrow 8">
              <a:extLst>
                <a:ext uri="{FF2B5EF4-FFF2-40B4-BE49-F238E27FC236}">
                  <a16:creationId xmlns:a16="http://schemas.microsoft.com/office/drawing/2014/main" id="{249A0CC4-428A-3A9D-4686-6BF9637D1250}"/>
                </a:ext>
              </a:extLst>
            </p:cNvPr>
            <p:cNvSpPr/>
            <p:nvPr/>
          </p:nvSpPr>
          <p:spPr>
            <a:xfrm>
              <a:off x="4750902" y="4199510"/>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10" name="Right Arrow 9">
              <a:extLst>
                <a:ext uri="{FF2B5EF4-FFF2-40B4-BE49-F238E27FC236}">
                  <a16:creationId xmlns:a16="http://schemas.microsoft.com/office/drawing/2014/main" id="{5C0A5136-6E2F-6503-A894-5D2F7C35261B}"/>
                </a:ext>
              </a:extLst>
            </p:cNvPr>
            <p:cNvSpPr/>
            <p:nvPr/>
          </p:nvSpPr>
          <p:spPr>
            <a:xfrm>
              <a:off x="4919661" y="1514305"/>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Finally!</a:t>
              </a:r>
              <a:endParaRPr lang="en-US" sz="700" dirty="0"/>
            </a:p>
          </p:txBody>
        </p:sp>
      </p:grpSp>
    </p:spTree>
    <p:extLst>
      <p:ext uri="{BB962C8B-B14F-4D97-AF65-F5344CB8AC3E}">
        <p14:creationId xmlns:p14="http://schemas.microsoft.com/office/powerpoint/2010/main" val="4269586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1"/>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762D0-821B-E720-6CEF-2AD6BBE6C15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CBD2E32-8BA9-07F5-42DA-1F155D923A69}"/>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1368165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DFDA8E3-6B43-24FA-86F2-B79E39CC5320}"/>
              </a:ext>
            </a:extLst>
          </p:cNvPr>
          <p:cNvPicPr>
            <a:picLocks noChangeAspect="1"/>
          </p:cNvPicPr>
          <p:nvPr/>
        </p:nvPicPr>
        <p:blipFill>
          <a:blip r:embed="rId2"/>
          <a:stretch>
            <a:fillRect/>
          </a:stretch>
        </p:blipFill>
        <p:spPr>
          <a:xfrm>
            <a:off x="1549400" y="-6227"/>
            <a:ext cx="9093200" cy="6864227"/>
          </a:xfrm>
          <a:prstGeom prst="rect">
            <a:avLst/>
          </a:prstGeom>
        </p:spPr>
      </p:pic>
    </p:spTree>
    <p:extLst>
      <p:ext uri="{BB962C8B-B14F-4D97-AF65-F5344CB8AC3E}">
        <p14:creationId xmlns:p14="http://schemas.microsoft.com/office/powerpoint/2010/main" val="2432720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D50E5D-B294-F5E6-0F5F-6A5C011B28FB}"/>
              </a:ext>
            </a:extLst>
          </p:cNvPr>
          <p:cNvPicPr>
            <a:picLocks noChangeAspect="1"/>
          </p:cNvPicPr>
          <p:nvPr/>
        </p:nvPicPr>
        <p:blipFill>
          <a:blip r:embed="rId2"/>
          <a:stretch>
            <a:fillRect/>
          </a:stretch>
        </p:blipFill>
        <p:spPr>
          <a:xfrm>
            <a:off x="1502420" y="50800"/>
            <a:ext cx="9187161" cy="6807200"/>
          </a:xfrm>
          <a:prstGeom prst="rect">
            <a:avLst/>
          </a:prstGeom>
        </p:spPr>
      </p:pic>
      <p:sp>
        <p:nvSpPr>
          <p:cNvPr id="3" name="Right Arrow 2">
            <a:extLst>
              <a:ext uri="{FF2B5EF4-FFF2-40B4-BE49-F238E27FC236}">
                <a16:creationId xmlns:a16="http://schemas.microsoft.com/office/drawing/2014/main" id="{4E1E9D0B-9493-107B-63E9-9BFC35460881}"/>
              </a:ext>
            </a:extLst>
          </p:cNvPr>
          <p:cNvSpPr/>
          <p:nvPr/>
        </p:nvSpPr>
        <p:spPr>
          <a:xfrm rot="10800000">
            <a:off x="10249467" y="4001164"/>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32820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2C25C90-D6BE-D216-BBCE-6AB4E9330E09}"/>
              </a:ext>
            </a:extLst>
          </p:cNvPr>
          <p:cNvPicPr>
            <a:picLocks noChangeAspect="1"/>
          </p:cNvPicPr>
          <p:nvPr/>
        </p:nvPicPr>
        <p:blipFill>
          <a:blip r:embed="rId3"/>
          <a:stretch>
            <a:fillRect/>
          </a:stretch>
        </p:blipFill>
        <p:spPr>
          <a:xfrm>
            <a:off x="2279650" y="-1"/>
            <a:ext cx="7632700" cy="6813081"/>
          </a:xfrm>
          <a:prstGeom prst="rect">
            <a:avLst/>
          </a:prstGeom>
        </p:spPr>
      </p:pic>
      <p:sp>
        <p:nvSpPr>
          <p:cNvPr id="3" name="Right Arrow 2">
            <a:extLst>
              <a:ext uri="{FF2B5EF4-FFF2-40B4-BE49-F238E27FC236}">
                <a16:creationId xmlns:a16="http://schemas.microsoft.com/office/drawing/2014/main" id="{819F6C44-02BE-F091-46FF-9DEE1546185B}"/>
              </a:ext>
            </a:extLst>
          </p:cNvPr>
          <p:cNvSpPr/>
          <p:nvPr/>
        </p:nvSpPr>
        <p:spPr>
          <a:xfrm rot="16200000">
            <a:off x="8996719" y="543417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71545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4637B2-E5A8-159C-A28F-C17090BB2F64}"/>
              </a:ext>
            </a:extLst>
          </p:cNvPr>
          <p:cNvPicPr>
            <a:picLocks noChangeAspect="1"/>
          </p:cNvPicPr>
          <p:nvPr/>
        </p:nvPicPr>
        <p:blipFill>
          <a:blip r:embed="rId2"/>
          <a:stretch>
            <a:fillRect/>
          </a:stretch>
        </p:blipFill>
        <p:spPr>
          <a:xfrm>
            <a:off x="2413000" y="50799"/>
            <a:ext cx="7366000" cy="6803319"/>
          </a:xfrm>
          <a:prstGeom prst="rect">
            <a:avLst/>
          </a:prstGeom>
        </p:spPr>
      </p:pic>
      <p:sp>
        <p:nvSpPr>
          <p:cNvPr id="3" name="Right Arrow 2">
            <a:extLst>
              <a:ext uri="{FF2B5EF4-FFF2-40B4-BE49-F238E27FC236}">
                <a16:creationId xmlns:a16="http://schemas.microsoft.com/office/drawing/2014/main" id="{23A4C5B7-BBFC-8898-AEBE-A42A996F5A0F}"/>
              </a:ext>
            </a:extLst>
          </p:cNvPr>
          <p:cNvSpPr/>
          <p:nvPr/>
        </p:nvSpPr>
        <p:spPr>
          <a:xfrm rot="10800000">
            <a:off x="8466351" y="1899408"/>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20113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CD8D761-E9AC-DB11-C288-BED189BBA4DE}"/>
              </a:ext>
            </a:extLst>
          </p:cNvPr>
          <p:cNvPicPr>
            <a:picLocks noChangeAspect="1"/>
          </p:cNvPicPr>
          <p:nvPr/>
        </p:nvPicPr>
        <p:blipFill>
          <a:blip r:embed="rId2"/>
          <a:srcRect t="4814"/>
          <a:stretch>
            <a:fillRect/>
          </a:stretch>
        </p:blipFill>
        <p:spPr>
          <a:xfrm>
            <a:off x="1358004" y="165100"/>
            <a:ext cx="9475992" cy="6527800"/>
          </a:xfrm>
          <a:prstGeom prst="rect">
            <a:avLst/>
          </a:prstGeom>
        </p:spPr>
      </p:pic>
      <p:sp>
        <p:nvSpPr>
          <p:cNvPr id="3" name="Right Arrow 2">
            <a:extLst>
              <a:ext uri="{FF2B5EF4-FFF2-40B4-BE49-F238E27FC236}">
                <a16:creationId xmlns:a16="http://schemas.microsoft.com/office/drawing/2014/main" id="{C8C6323D-2498-7713-6C50-D962AA90B78F}"/>
              </a:ext>
            </a:extLst>
          </p:cNvPr>
          <p:cNvSpPr/>
          <p:nvPr/>
        </p:nvSpPr>
        <p:spPr>
          <a:xfrm>
            <a:off x="191068" y="4342358"/>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77604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4CFA4FD-DCCA-56A1-D102-CAB94DE08234}"/>
              </a:ext>
            </a:extLst>
          </p:cNvPr>
          <p:cNvPicPr>
            <a:picLocks noChangeAspect="1"/>
          </p:cNvPicPr>
          <p:nvPr/>
        </p:nvPicPr>
        <p:blipFill>
          <a:blip r:embed="rId2"/>
          <a:srcRect t="5154"/>
          <a:stretch>
            <a:fillRect/>
          </a:stretch>
        </p:blipFill>
        <p:spPr>
          <a:xfrm>
            <a:off x="3371850" y="219288"/>
            <a:ext cx="5448300" cy="6419425"/>
          </a:xfrm>
          <a:prstGeom prst="rect">
            <a:avLst/>
          </a:prstGeom>
        </p:spPr>
      </p:pic>
      <p:sp>
        <p:nvSpPr>
          <p:cNvPr id="3" name="Right Arrow 2">
            <a:extLst>
              <a:ext uri="{FF2B5EF4-FFF2-40B4-BE49-F238E27FC236}">
                <a16:creationId xmlns:a16="http://schemas.microsoft.com/office/drawing/2014/main" id="{25CE205C-0046-E93A-49F4-010DC1AAC000}"/>
              </a:ext>
            </a:extLst>
          </p:cNvPr>
          <p:cNvSpPr/>
          <p:nvPr/>
        </p:nvSpPr>
        <p:spPr>
          <a:xfrm>
            <a:off x="3616656" y="3659970"/>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51614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2503DF7-E7CA-73D9-4148-D7B113503CE8}"/>
              </a:ext>
            </a:extLst>
          </p:cNvPr>
          <p:cNvPicPr>
            <a:picLocks noChangeAspect="1"/>
          </p:cNvPicPr>
          <p:nvPr/>
        </p:nvPicPr>
        <p:blipFill>
          <a:blip r:embed="rId2"/>
          <a:stretch>
            <a:fillRect/>
          </a:stretch>
        </p:blipFill>
        <p:spPr>
          <a:xfrm>
            <a:off x="-21116" y="1422400"/>
            <a:ext cx="12213116" cy="4038600"/>
          </a:xfrm>
          <a:prstGeom prst="rect">
            <a:avLst/>
          </a:prstGeom>
        </p:spPr>
      </p:pic>
      <p:sp>
        <p:nvSpPr>
          <p:cNvPr id="3" name="Right Arrow 2">
            <a:extLst>
              <a:ext uri="{FF2B5EF4-FFF2-40B4-BE49-F238E27FC236}">
                <a16:creationId xmlns:a16="http://schemas.microsoft.com/office/drawing/2014/main" id="{0D098E73-C269-CF32-B7A1-4D8DAC1BBDE2}"/>
              </a:ext>
            </a:extLst>
          </p:cNvPr>
          <p:cNvSpPr/>
          <p:nvPr/>
        </p:nvSpPr>
        <p:spPr>
          <a:xfrm rot="5400000">
            <a:off x="9391650" y="1339850"/>
            <a:ext cx="1612900"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2016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598E9AD-DFC8-0B7B-B910-E71A1D6BF76D}"/>
              </a:ext>
            </a:extLst>
          </p:cNvPr>
          <p:cNvPicPr>
            <a:picLocks noChangeAspect="1"/>
          </p:cNvPicPr>
          <p:nvPr/>
        </p:nvPicPr>
        <p:blipFill>
          <a:blip r:embed="rId3"/>
          <a:stretch>
            <a:fillRect/>
          </a:stretch>
        </p:blipFill>
        <p:spPr>
          <a:xfrm>
            <a:off x="1231900" y="59101"/>
            <a:ext cx="9728200" cy="6739799"/>
          </a:xfrm>
          <a:prstGeom prst="rect">
            <a:avLst/>
          </a:prstGeom>
        </p:spPr>
      </p:pic>
      <p:sp>
        <p:nvSpPr>
          <p:cNvPr id="3" name="Right Arrow 2">
            <a:extLst>
              <a:ext uri="{FF2B5EF4-FFF2-40B4-BE49-F238E27FC236}">
                <a16:creationId xmlns:a16="http://schemas.microsoft.com/office/drawing/2014/main" id="{425FE7D5-E60F-6FE5-B8D3-FE212494BC5C}"/>
              </a:ext>
            </a:extLst>
          </p:cNvPr>
          <p:cNvSpPr/>
          <p:nvPr/>
        </p:nvSpPr>
        <p:spPr>
          <a:xfrm>
            <a:off x="3507474" y="585725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749800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BB29-E7B1-B83F-AB23-E1A2ABD473A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303BF0B-22BB-51A2-FFE3-C8AF063B4532}"/>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5176063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 of a system&#10;&#10;AI-generated content may be incorrect.">
            <a:extLst>
              <a:ext uri="{FF2B5EF4-FFF2-40B4-BE49-F238E27FC236}">
                <a16:creationId xmlns:a16="http://schemas.microsoft.com/office/drawing/2014/main" id="{880F0360-B21D-C779-CE5E-4F74BD0A0F8E}"/>
              </a:ext>
            </a:extLst>
          </p:cNvPr>
          <p:cNvPicPr>
            <a:picLocks noChangeAspect="1"/>
          </p:cNvPicPr>
          <p:nvPr/>
        </p:nvPicPr>
        <p:blipFill>
          <a:blip r:embed="rId2"/>
          <a:stretch>
            <a:fillRect/>
          </a:stretch>
        </p:blipFill>
        <p:spPr>
          <a:xfrm>
            <a:off x="1098550" y="-1"/>
            <a:ext cx="9994900" cy="7165835"/>
          </a:xfrm>
          <a:prstGeom prst="rect">
            <a:avLst/>
          </a:prstGeom>
        </p:spPr>
      </p:pic>
    </p:spTree>
    <p:extLst>
      <p:ext uri="{BB962C8B-B14F-4D97-AF65-F5344CB8AC3E}">
        <p14:creationId xmlns:p14="http://schemas.microsoft.com/office/powerpoint/2010/main" val="29011743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B06E5DD-EA35-9CC8-95D2-AF1CD1A08542}"/>
              </a:ext>
            </a:extLst>
          </p:cNvPr>
          <p:cNvPicPr>
            <a:picLocks noChangeAspect="1"/>
          </p:cNvPicPr>
          <p:nvPr/>
        </p:nvPicPr>
        <p:blipFill>
          <a:blip r:embed="rId2"/>
          <a:stretch>
            <a:fillRect/>
          </a:stretch>
        </p:blipFill>
        <p:spPr>
          <a:xfrm>
            <a:off x="0" y="763650"/>
            <a:ext cx="12192000" cy="5330701"/>
          </a:xfrm>
          <a:prstGeom prst="rect">
            <a:avLst/>
          </a:prstGeom>
        </p:spPr>
      </p:pic>
      <p:sp>
        <p:nvSpPr>
          <p:cNvPr id="3" name="Right Arrow 2">
            <a:extLst>
              <a:ext uri="{FF2B5EF4-FFF2-40B4-BE49-F238E27FC236}">
                <a16:creationId xmlns:a16="http://schemas.microsoft.com/office/drawing/2014/main" id="{D34E1C90-9896-BC4F-C5BD-E675FB219617}"/>
              </a:ext>
            </a:extLst>
          </p:cNvPr>
          <p:cNvSpPr/>
          <p:nvPr/>
        </p:nvSpPr>
        <p:spPr>
          <a:xfrm>
            <a:off x="6540500" y="25781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872999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8DF853-6BF6-EAB1-8A39-DA80069F03B8}"/>
            </a:ext>
          </a:extLst>
        </p:cNvPr>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A167B4BD-9064-E3F0-6D61-6299AE291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3" name="Rectangle 1032">
            <a:extLst>
              <a:ext uri="{FF2B5EF4-FFF2-40B4-BE49-F238E27FC236}">
                <a16:creationId xmlns:a16="http://schemas.microsoft.com/office/drawing/2014/main" id="{DFDE1F83-40E5-FEF7-55E6-EADA2BD476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5" name="Rectangle 1034">
            <a:extLst>
              <a:ext uri="{FF2B5EF4-FFF2-40B4-BE49-F238E27FC236}">
                <a16:creationId xmlns:a16="http://schemas.microsoft.com/office/drawing/2014/main" id="{8CBDFC1C-8DA8-FD6C-4305-CD41D5FD99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7" name="Rectangle 1036">
            <a:extLst>
              <a:ext uri="{FF2B5EF4-FFF2-40B4-BE49-F238E27FC236}">
                <a16:creationId xmlns:a16="http://schemas.microsoft.com/office/drawing/2014/main" id="{6BA88BB0-60EE-246C-8162-1A1E094B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0AFB1139-9A6A-5901-30BF-76AACA118D76}"/>
              </a:ext>
            </a:extLst>
          </p:cNvPr>
          <p:cNvSpPr txBox="1"/>
          <p:nvPr/>
        </p:nvSpPr>
        <p:spPr>
          <a:xfrm>
            <a:off x="1127208" y="857251"/>
            <a:ext cx="4747280" cy="3098061"/>
          </a:xfrm>
          <a:prstGeom prst="rect">
            <a:avLst/>
          </a:prstGeom>
        </p:spPr>
        <p:txBody>
          <a:bodyPr vert="horz" lIns="91440" tIns="45720" rIns="91440" bIns="45720" rtlCol="0" anchor="b">
            <a:normAutofit/>
          </a:bodyPr>
          <a:lstStyle/>
          <a:p>
            <a:pPr marL="0" marR="0" lvl="0" indent="0" algn="l" defTabSz="914400" rtl="0" eaLnBrk="1" fontAlgn="auto" latinLnBrk="0" hangingPunct="1">
              <a:lnSpc>
                <a:spcPct val="90000"/>
              </a:lnSpc>
              <a:spcBef>
                <a:spcPct val="0"/>
              </a:spcBef>
              <a:spcAft>
                <a:spcPts val="600"/>
              </a:spcAft>
              <a:buClrTx/>
              <a:buSzTx/>
              <a:buFontTx/>
              <a:buNone/>
              <a:tabLst/>
              <a:defRPr/>
            </a:pPr>
            <a:r>
              <a:rPr lang="en-US" sz="4800" dirty="0">
                <a:solidFill>
                  <a:srgbClr val="FFFFFF"/>
                </a:solidFill>
                <a:latin typeface="Aptos Display" panose="02110004020202020204"/>
              </a:rPr>
              <a:t>Azure Event Hubs</a:t>
            </a:r>
            <a:endParaRPr kumimoji="0" lang="en-US" sz="4800" b="0" i="0" u="none" strike="noStrike" kern="1200" cap="none" spc="0" normalizeH="0" baseline="0" noProof="0" dirty="0">
              <a:ln>
                <a:noFill/>
              </a:ln>
              <a:solidFill>
                <a:srgbClr val="FFFFFF"/>
              </a:solidFill>
              <a:effectLst/>
              <a:uLnTx/>
              <a:uFillTx/>
              <a:latin typeface="Aptos Display" panose="02110004020202020204"/>
              <a:ea typeface="+mn-ea"/>
              <a:cs typeface="+mn-cs"/>
            </a:endParaRPr>
          </a:p>
        </p:txBody>
      </p:sp>
      <p:sp>
        <p:nvSpPr>
          <p:cNvPr id="1039" name="Rectangle 1038">
            <a:extLst>
              <a:ext uri="{FF2B5EF4-FFF2-40B4-BE49-F238E27FC236}">
                <a16:creationId xmlns:a16="http://schemas.microsoft.com/office/drawing/2014/main" id="{44B11898-5B63-DD23-F594-B73FF91DBA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41" name="Oval 1040">
            <a:extLst>
              <a:ext uri="{FF2B5EF4-FFF2-40B4-BE49-F238E27FC236}">
                <a16:creationId xmlns:a16="http://schemas.microsoft.com/office/drawing/2014/main" id="{4A83742F-1595-6E83-9D82-E30A7132A4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076" name="Picture 4" descr="Pricing - Event Hubs | Microsoft Azure">
            <a:extLst>
              <a:ext uri="{FF2B5EF4-FFF2-40B4-BE49-F238E27FC236}">
                <a16:creationId xmlns:a16="http://schemas.microsoft.com/office/drawing/2014/main" id="{F4E6515A-E4A9-7BC1-C5EC-BBE4D30D0E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00088" y="2455138"/>
            <a:ext cx="3737164" cy="1962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86812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9651FE59-B8D1-C666-3C88-C41F98C46649}"/>
              </a:ext>
            </a:extLst>
          </p:cNvPr>
          <p:cNvPicPr>
            <a:picLocks noChangeAspect="1"/>
          </p:cNvPicPr>
          <p:nvPr/>
        </p:nvPicPr>
        <p:blipFill>
          <a:blip r:embed="rId3"/>
          <a:stretch>
            <a:fillRect/>
          </a:stretch>
        </p:blipFill>
        <p:spPr>
          <a:xfrm>
            <a:off x="1419225" y="-1"/>
            <a:ext cx="9353550" cy="6894627"/>
          </a:xfrm>
          <a:prstGeom prst="rect">
            <a:avLst/>
          </a:prstGeom>
        </p:spPr>
      </p:pic>
    </p:spTree>
    <p:extLst>
      <p:ext uri="{BB962C8B-B14F-4D97-AF65-F5344CB8AC3E}">
        <p14:creationId xmlns:p14="http://schemas.microsoft.com/office/powerpoint/2010/main" val="7144773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27AB7C-6CCC-AEFC-CE89-3D660D2327B2}"/>
              </a:ext>
            </a:extLst>
          </p:cNvPr>
          <p:cNvPicPr>
            <a:picLocks noChangeAspect="1"/>
          </p:cNvPicPr>
          <p:nvPr/>
        </p:nvPicPr>
        <p:blipFill>
          <a:blip r:embed="rId3"/>
          <a:stretch>
            <a:fillRect/>
          </a:stretch>
        </p:blipFill>
        <p:spPr>
          <a:xfrm>
            <a:off x="1269714" y="85299"/>
            <a:ext cx="9652572" cy="6687403"/>
          </a:xfrm>
          <a:prstGeom prst="rect">
            <a:avLst/>
          </a:prstGeom>
        </p:spPr>
      </p:pic>
    </p:spTree>
    <p:extLst>
      <p:ext uri="{BB962C8B-B14F-4D97-AF65-F5344CB8AC3E}">
        <p14:creationId xmlns:p14="http://schemas.microsoft.com/office/powerpoint/2010/main" val="13917515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33B0E15-D274-5181-2A0D-C395EDB2A78A}"/>
              </a:ext>
            </a:extLst>
          </p:cNvPr>
          <p:cNvPicPr>
            <a:picLocks noChangeAspect="1"/>
          </p:cNvPicPr>
          <p:nvPr/>
        </p:nvPicPr>
        <p:blipFill>
          <a:blip r:embed="rId2"/>
          <a:stretch>
            <a:fillRect/>
          </a:stretch>
        </p:blipFill>
        <p:spPr>
          <a:xfrm>
            <a:off x="289345" y="0"/>
            <a:ext cx="11613311" cy="6858000"/>
          </a:xfrm>
          <a:prstGeom prst="rect">
            <a:avLst/>
          </a:prstGeom>
        </p:spPr>
      </p:pic>
      <p:sp>
        <p:nvSpPr>
          <p:cNvPr id="3" name="Right Arrow 2">
            <a:extLst>
              <a:ext uri="{FF2B5EF4-FFF2-40B4-BE49-F238E27FC236}">
                <a16:creationId xmlns:a16="http://schemas.microsoft.com/office/drawing/2014/main" id="{C4EE4DA8-ADC1-564D-B5AA-5B461C358EBC}"/>
              </a:ext>
            </a:extLst>
          </p:cNvPr>
          <p:cNvSpPr/>
          <p:nvPr/>
        </p:nvSpPr>
        <p:spPr>
          <a:xfrm>
            <a:off x="2988860" y="4301415"/>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17291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4BBB14-69A2-1A7E-052C-F35ACECAC524}"/>
              </a:ext>
            </a:extLst>
          </p:cNvPr>
          <p:cNvPicPr>
            <a:picLocks noChangeAspect="1"/>
          </p:cNvPicPr>
          <p:nvPr/>
        </p:nvPicPr>
        <p:blipFill>
          <a:blip r:embed="rId3"/>
          <a:stretch>
            <a:fillRect/>
          </a:stretch>
        </p:blipFill>
        <p:spPr>
          <a:xfrm>
            <a:off x="289345" y="0"/>
            <a:ext cx="11613311" cy="6858000"/>
          </a:xfrm>
          <a:prstGeom prst="rect">
            <a:avLst/>
          </a:prstGeom>
        </p:spPr>
      </p:pic>
      <p:sp>
        <p:nvSpPr>
          <p:cNvPr id="3" name="Right Arrow 2">
            <a:extLst>
              <a:ext uri="{FF2B5EF4-FFF2-40B4-BE49-F238E27FC236}">
                <a16:creationId xmlns:a16="http://schemas.microsoft.com/office/drawing/2014/main" id="{31B0824E-678E-6A2C-2BDD-3D7598F93D5C}"/>
              </a:ext>
            </a:extLst>
          </p:cNvPr>
          <p:cNvSpPr/>
          <p:nvPr/>
        </p:nvSpPr>
        <p:spPr>
          <a:xfrm>
            <a:off x="3002508" y="3497240"/>
            <a:ext cx="985102"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6748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9363F17-69D2-C808-8F45-A144AECE982A}"/>
              </a:ext>
            </a:extLst>
          </p:cNvPr>
          <p:cNvPicPr>
            <a:picLocks noChangeAspect="1"/>
          </p:cNvPicPr>
          <p:nvPr/>
        </p:nvPicPr>
        <p:blipFill>
          <a:blip r:embed="rId2"/>
          <a:stretch>
            <a:fillRect/>
          </a:stretch>
        </p:blipFill>
        <p:spPr>
          <a:xfrm>
            <a:off x="1243642" y="0"/>
            <a:ext cx="9704717" cy="6858000"/>
          </a:xfrm>
          <a:prstGeom prst="rect">
            <a:avLst/>
          </a:prstGeom>
        </p:spPr>
      </p:pic>
      <p:sp>
        <p:nvSpPr>
          <p:cNvPr id="3" name="Right Arrow 2">
            <a:extLst>
              <a:ext uri="{FF2B5EF4-FFF2-40B4-BE49-F238E27FC236}">
                <a16:creationId xmlns:a16="http://schemas.microsoft.com/office/drawing/2014/main" id="{69DD08BA-F9AC-886B-2390-71DBBD3FDA02}"/>
              </a:ext>
            </a:extLst>
          </p:cNvPr>
          <p:cNvSpPr/>
          <p:nvPr/>
        </p:nvSpPr>
        <p:spPr>
          <a:xfrm rot="16200000">
            <a:off x="10058400" y="5447826"/>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04150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7F784A9-69C0-3881-0E7F-3568F829E2F2}"/>
              </a:ext>
            </a:extLst>
          </p:cNvPr>
          <p:cNvPicPr>
            <a:picLocks noChangeAspect="1"/>
          </p:cNvPicPr>
          <p:nvPr/>
        </p:nvPicPr>
        <p:blipFill>
          <a:blip r:embed="rId3"/>
          <a:stretch>
            <a:fillRect/>
          </a:stretch>
        </p:blipFill>
        <p:spPr>
          <a:xfrm>
            <a:off x="-63880" y="0"/>
            <a:ext cx="12319760" cy="6858000"/>
          </a:xfrm>
          <a:prstGeom prst="rect">
            <a:avLst/>
          </a:prstGeom>
        </p:spPr>
      </p:pic>
      <p:sp>
        <p:nvSpPr>
          <p:cNvPr id="4" name="Right Arrow 3">
            <a:extLst>
              <a:ext uri="{FF2B5EF4-FFF2-40B4-BE49-F238E27FC236}">
                <a16:creationId xmlns:a16="http://schemas.microsoft.com/office/drawing/2014/main" id="{94D075A4-D1E5-F92A-4C4B-BC828058558B}"/>
              </a:ext>
            </a:extLst>
          </p:cNvPr>
          <p:cNvSpPr/>
          <p:nvPr/>
        </p:nvSpPr>
        <p:spPr>
          <a:xfrm rot="10800000">
            <a:off x="9157648" y="3619026"/>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34082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D51D726-71BF-97DC-C25E-58A7F4BF9DFE}"/>
              </a:ext>
            </a:extLst>
          </p:cNvPr>
          <p:cNvPicPr>
            <a:picLocks noChangeAspect="1"/>
          </p:cNvPicPr>
          <p:nvPr/>
        </p:nvPicPr>
        <p:blipFill>
          <a:blip r:embed="rId3"/>
          <a:stretch>
            <a:fillRect/>
          </a:stretch>
        </p:blipFill>
        <p:spPr>
          <a:xfrm>
            <a:off x="621400" y="683480"/>
            <a:ext cx="10949201" cy="5491041"/>
          </a:xfrm>
          <a:prstGeom prst="rect">
            <a:avLst/>
          </a:prstGeom>
        </p:spPr>
      </p:pic>
      <p:sp>
        <p:nvSpPr>
          <p:cNvPr id="3" name="Right Arrow 2">
            <a:extLst>
              <a:ext uri="{FF2B5EF4-FFF2-40B4-BE49-F238E27FC236}">
                <a16:creationId xmlns:a16="http://schemas.microsoft.com/office/drawing/2014/main" id="{328BD24F-D93C-5739-5C05-75F28C9F5755}"/>
              </a:ext>
            </a:extLst>
          </p:cNvPr>
          <p:cNvSpPr/>
          <p:nvPr/>
        </p:nvSpPr>
        <p:spPr>
          <a:xfrm rot="12877950">
            <a:off x="3432222" y="5475122"/>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680317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EA0B5E-8668-C3DF-272E-966CD653BED9}"/>
              </a:ext>
            </a:extLst>
          </p:cNvPr>
          <p:cNvPicPr>
            <a:picLocks noChangeAspect="1"/>
          </p:cNvPicPr>
          <p:nvPr/>
        </p:nvPicPr>
        <p:blipFill>
          <a:blip r:embed="rId3"/>
          <a:stretch>
            <a:fillRect/>
          </a:stretch>
        </p:blipFill>
        <p:spPr>
          <a:xfrm>
            <a:off x="2051012" y="0"/>
            <a:ext cx="8089976" cy="6858000"/>
          </a:xfrm>
          <a:prstGeom prst="rect">
            <a:avLst/>
          </a:prstGeom>
        </p:spPr>
      </p:pic>
      <p:sp>
        <p:nvSpPr>
          <p:cNvPr id="3" name="Right Arrow 2">
            <a:extLst>
              <a:ext uri="{FF2B5EF4-FFF2-40B4-BE49-F238E27FC236}">
                <a16:creationId xmlns:a16="http://schemas.microsoft.com/office/drawing/2014/main" id="{A64BF07E-F891-8E91-5368-190A141EF552}"/>
              </a:ext>
            </a:extLst>
          </p:cNvPr>
          <p:cNvSpPr/>
          <p:nvPr/>
        </p:nvSpPr>
        <p:spPr>
          <a:xfrm>
            <a:off x="3903260" y="5311350"/>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64172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CC7CEA7-9C7C-97A0-6DB7-62D660D7AEE3}"/>
              </a:ext>
            </a:extLst>
          </p:cNvPr>
          <p:cNvPicPr>
            <a:picLocks noChangeAspect="1"/>
          </p:cNvPicPr>
          <p:nvPr/>
        </p:nvPicPr>
        <p:blipFill>
          <a:blip r:embed="rId3"/>
          <a:stretch>
            <a:fillRect/>
          </a:stretch>
        </p:blipFill>
        <p:spPr>
          <a:xfrm>
            <a:off x="436511" y="713096"/>
            <a:ext cx="11318979" cy="5431809"/>
          </a:xfrm>
          <a:prstGeom prst="rect">
            <a:avLst/>
          </a:prstGeom>
        </p:spPr>
      </p:pic>
      <p:sp>
        <p:nvSpPr>
          <p:cNvPr id="3" name="Right Arrow 2">
            <a:extLst>
              <a:ext uri="{FF2B5EF4-FFF2-40B4-BE49-F238E27FC236}">
                <a16:creationId xmlns:a16="http://schemas.microsoft.com/office/drawing/2014/main" id="{69A6FACD-A84A-1A74-29D5-FDE0B3737FF1}"/>
              </a:ext>
            </a:extLst>
          </p:cNvPr>
          <p:cNvSpPr/>
          <p:nvPr/>
        </p:nvSpPr>
        <p:spPr>
          <a:xfrm rot="12851511">
            <a:off x="3439236" y="536593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07917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00CCB87-710D-0164-9247-6CFFD7811478}"/>
              </a:ext>
            </a:extLst>
          </p:cNvPr>
          <p:cNvPicPr>
            <a:picLocks noChangeAspect="1"/>
          </p:cNvPicPr>
          <p:nvPr/>
        </p:nvPicPr>
        <p:blipFill>
          <a:blip r:embed="rId3"/>
          <a:stretch>
            <a:fillRect/>
          </a:stretch>
        </p:blipFill>
        <p:spPr>
          <a:xfrm>
            <a:off x="0" y="553787"/>
            <a:ext cx="12242021" cy="5750427"/>
          </a:xfrm>
          <a:prstGeom prst="rect">
            <a:avLst/>
          </a:prstGeom>
        </p:spPr>
      </p:pic>
      <p:sp>
        <p:nvSpPr>
          <p:cNvPr id="3" name="Right Arrow 2">
            <a:extLst>
              <a:ext uri="{FF2B5EF4-FFF2-40B4-BE49-F238E27FC236}">
                <a16:creationId xmlns:a16="http://schemas.microsoft.com/office/drawing/2014/main" id="{AAF0BB0E-CBFC-DC8F-1FA5-B9EC93F897A6}"/>
              </a:ext>
            </a:extLst>
          </p:cNvPr>
          <p:cNvSpPr/>
          <p:nvPr/>
        </p:nvSpPr>
        <p:spPr>
          <a:xfrm rot="12851511">
            <a:off x="2620370" y="4983802"/>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34321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89F516C-3D1C-7651-9DB1-F3D7BC32520A}"/>
              </a:ext>
            </a:extLst>
          </p:cNvPr>
          <p:cNvPicPr>
            <a:picLocks noChangeAspect="1"/>
          </p:cNvPicPr>
          <p:nvPr/>
        </p:nvPicPr>
        <p:blipFill>
          <a:blip r:embed="rId3"/>
          <a:stretch>
            <a:fillRect/>
          </a:stretch>
        </p:blipFill>
        <p:spPr>
          <a:xfrm>
            <a:off x="1807328" y="-1"/>
            <a:ext cx="8577345" cy="6701051"/>
          </a:xfrm>
          <a:prstGeom prst="rect">
            <a:avLst/>
          </a:prstGeom>
        </p:spPr>
      </p:pic>
      <p:sp>
        <p:nvSpPr>
          <p:cNvPr id="3" name="Right Arrow 2">
            <a:extLst>
              <a:ext uri="{FF2B5EF4-FFF2-40B4-BE49-F238E27FC236}">
                <a16:creationId xmlns:a16="http://schemas.microsoft.com/office/drawing/2014/main" id="{796ED1C8-0DB5-9868-867C-EDFCA9B17B62}"/>
              </a:ext>
            </a:extLst>
          </p:cNvPr>
          <p:cNvSpPr/>
          <p:nvPr/>
        </p:nvSpPr>
        <p:spPr>
          <a:xfrm rot="19063961">
            <a:off x="4408227" y="1271612"/>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81499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ADD6C9-6CEF-CF7F-25BD-647275B3D00D}"/>
              </a:ext>
            </a:extLst>
          </p:cNvPr>
          <p:cNvPicPr>
            <a:picLocks noChangeAspect="1"/>
          </p:cNvPicPr>
          <p:nvPr/>
        </p:nvPicPr>
        <p:blipFill>
          <a:blip r:embed="rId3"/>
          <a:stretch>
            <a:fillRect/>
          </a:stretch>
        </p:blipFill>
        <p:spPr>
          <a:xfrm>
            <a:off x="2774381" y="724"/>
            <a:ext cx="6643238" cy="6856553"/>
          </a:xfrm>
          <a:prstGeom prst="rect">
            <a:avLst/>
          </a:prstGeom>
        </p:spPr>
      </p:pic>
    </p:spTree>
    <p:extLst>
      <p:ext uri="{BB962C8B-B14F-4D97-AF65-F5344CB8AC3E}">
        <p14:creationId xmlns:p14="http://schemas.microsoft.com/office/powerpoint/2010/main" val="39696226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4A1935E-1C49-461A-83A5-70B06EB971B4}"/>
              </a:ext>
            </a:extLst>
          </p:cNvPr>
          <p:cNvPicPr>
            <a:picLocks noChangeAspect="1"/>
          </p:cNvPicPr>
          <p:nvPr/>
        </p:nvPicPr>
        <p:blipFill>
          <a:blip r:embed="rId2"/>
          <a:stretch>
            <a:fillRect/>
          </a:stretch>
        </p:blipFill>
        <p:spPr>
          <a:xfrm>
            <a:off x="3509133" y="-1"/>
            <a:ext cx="5173734" cy="6844177"/>
          </a:xfrm>
          <a:prstGeom prst="rect">
            <a:avLst/>
          </a:prstGeom>
        </p:spPr>
      </p:pic>
      <p:sp>
        <p:nvSpPr>
          <p:cNvPr id="3" name="Right Arrow 2">
            <a:extLst>
              <a:ext uri="{FF2B5EF4-FFF2-40B4-BE49-F238E27FC236}">
                <a16:creationId xmlns:a16="http://schemas.microsoft.com/office/drawing/2014/main" id="{BDF1B6FF-960D-259C-7BA8-5E4695C85D0D}"/>
              </a:ext>
            </a:extLst>
          </p:cNvPr>
          <p:cNvSpPr/>
          <p:nvPr/>
        </p:nvSpPr>
        <p:spPr>
          <a:xfrm rot="19063961">
            <a:off x="5322628" y="971361"/>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02787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DC95F6B-C754-7963-92DE-8D0765ED3652}"/>
              </a:ext>
            </a:extLst>
          </p:cNvPr>
          <p:cNvPicPr>
            <a:picLocks noChangeAspect="1"/>
          </p:cNvPicPr>
          <p:nvPr/>
        </p:nvPicPr>
        <p:blipFill>
          <a:blip r:embed="rId3"/>
          <a:stretch>
            <a:fillRect/>
          </a:stretch>
        </p:blipFill>
        <p:spPr>
          <a:xfrm>
            <a:off x="1903110" y="109846"/>
            <a:ext cx="8385781" cy="6748154"/>
          </a:xfrm>
          <a:prstGeom prst="rect">
            <a:avLst/>
          </a:prstGeom>
        </p:spPr>
      </p:pic>
      <p:sp>
        <p:nvSpPr>
          <p:cNvPr id="3" name="Right Arrow 2">
            <a:extLst>
              <a:ext uri="{FF2B5EF4-FFF2-40B4-BE49-F238E27FC236}">
                <a16:creationId xmlns:a16="http://schemas.microsoft.com/office/drawing/2014/main" id="{CAAAA3E1-770B-317D-9984-57644D0E2BBE}"/>
              </a:ext>
            </a:extLst>
          </p:cNvPr>
          <p:cNvSpPr/>
          <p:nvPr/>
        </p:nvSpPr>
        <p:spPr>
          <a:xfrm>
            <a:off x="3875965" y="2022239"/>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93E3E35E-7B97-B3DB-F59F-24621FB02885}"/>
              </a:ext>
            </a:extLst>
          </p:cNvPr>
          <p:cNvSpPr/>
          <p:nvPr/>
        </p:nvSpPr>
        <p:spPr>
          <a:xfrm rot="7402037">
            <a:off x="5168129" y="4942861"/>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946962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E1E1E"/>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012BFC5-E1CB-63F6-3369-DC0942FF4FC4}"/>
              </a:ext>
            </a:extLst>
          </p:cNvPr>
          <p:cNvPicPr>
            <a:picLocks noChangeAspect="1"/>
          </p:cNvPicPr>
          <p:nvPr/>
        </p:nvPicPr>
        <p:blipFill>
          <a:blip r:embed="rId2"/>
          <a:stretch>
            <a:fillRect/>
          </a:stretch>
        </p:blipFill>
        <p:spPr>
          <a:xfrm>
            <a:off x="2729837" y="0"/>
            <a:ext cx="6732327" cy="6863476"/>
          </a:xfrm>
          <a:prstGeom prst="rect">
            <a:avLst/>
          </a:prstGeom>
        </p:spPr>
      </p:pic>
    </p:spTree>
    <p:extLst>
      <p:ext uri="{BB962C8B-B14F-4D97-AF65-F5344CB8AC3E}">
        <p14:creationId xmlns:p14="http://schemas.microsoft.com/office/powerpoint/2010/main" val="41184525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221F8-030F-747A-F834-C12619FDB74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6BC4A7C-7536-AA84-29AC-C8472FA0C79E}"/>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2522453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6B40D5-135C-3C29-8B55-D7464E93F294}"/>
            </a:ext>
          </a:extLst>
        </p:cNvPr>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54F1232-E505-B698-F796-60D30CE21D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3" name="Rectangle 1032">
            <a:extLst>
              <a:ext uri="{FF2B5EF4-FFF2-40B4-BE49-F238E27FC236}">
                <a16:creationId xmlns:a16="http://schemas.microsoft.com/office/drawing/2014/main" id="{25E6F02C-6DDB-E813-095E-5D1E4ED37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5" name="Rectangle 1034">
            <a:extLst>
              <a:ext uri="{FF2B5EF4-FFF2-40B4-BE49-F238E27FC236}">
                <a16:creationId xmlns:a16="http://schemas.microsoft.com/office/drawing/2014/main" id="{8E393591-B34D-1090-2ABF-B9E10918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7" name="Rectangle 1036">
            <a:extLst>
              <a:ext uri="{FF2B5EF4-FFF2-40B4-BE49-F238E27FC236}">
                <a16:creationId xmlns:a16="http://schemas.microsoft.com/office/drawing/2014/main" id="{7C23827F-3F52-F335-262F-627CA72841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52FAFCC0-7937-95DE-178A-28F48ADBFFEB}"/>
              </a:ext>
            </a:extLst>
          </p:cNvPr>
          <p:cNvSpPr txBox="1"/>
          <p:nvPr/>
        </p:nvSpPr>
        <p:spPr>
          <a:xfrm>
            <a:off x="1127208" y="857251"/>
            <a:ext cx="4747280" cy="3098061"/>
          </a:xfrm>
          <a:prstGeom prst="rect">
            <a:avLst/>
          </a:prstGeom>
        </p:spPr>
        <p:txBody>
          <a:bodyPr vert="horz" lIns="91440" tIns="45720" rIns="91440" bIns="45720" rtlCol="0" anchor="b">
            <a:normAutofit/>
          </a:bodyPr>
          <a:lstStyle/>
          <a:p>
            <a:pPr marL="0" marR="0" lvl="0" indent="0" algn="l" defTabSz="914400" rtl="0" eaLnBrk="1" fontAlgn="auto" latinLnBrk="0" hangingPunct="1">
              <a:lnSpc>
                <a:spcPct val="90000"/>
              </a:lnSpc>
              <a:spcBef>
                <a:spcPct val="0"/>
              </a:spcBef>
              <a:spcAft>
                <a:spcPts val="600"/>
              </a:spcAft>
              <a:buClrTx/>
              <a:buSzTx/>
              <a:buFontTx/>
              <a:buNone/>
              <a:tabLst/>
              <a:defRPr/>
            </a:pPr>
            <a:r>
              <a:rPr kumimoji="0" lang="en-US" sz="4800" b="0" i="0" u="none" strike="noStrike" kern="1200" cap="none" spc="0" normalizeH="0" baseline="0" noProof="0" dirty="0">
                <a:ln>
                  <a:noFill/>
                </a:ln>
                <a:solidFill>
                  <a:srgbClr val="FFFFFF"/>
                </a:solidFill>
                <a:effectLst/>
                <a:uLnTx/>
                <a:uFillTx/>
                <a:latin typeface="Aptos Display" panose="02110004020202020204"/>
                <a:ea typeface="+mn-ea"/>
                <a:cs typeface="+mn-cs"/>
              </a:rPr>
              <a:t>Azure Event Grid</a:t>
            </a:r>
          </a:p>
        </p:txBody>
      </p:sp>
      <p:sp>
        <p:nvSpPr>
          <p:cNvPr id="1039" name="Rectangle 1038">
            <a:extLst>
              <a:ext uri="{FF2B5EF4-FFF2-40B4-BE49-F238E27FC236}">
                <a16:creationId xmlns:a16="http://schemas.microsoft.com/office/drawing/2014/main" id="{CBF6440F-CB8B-2604-E0A9-18A798A53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41" name="Oval 1040">
            <a:extLst>
              <a:ext uri="{FF2B5EF4-FFF2-40B4-BE49-F238E27FC236}">
                <a16:creationId xmlns:a16="http://schemas.microsoft.com/office/drawing/2014/main" id="{45D80CC1-E776-7DEB-54A0-61F3A5DFB6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5122" name="Picture 2" descr="Pricing – Event Grid | Microsoft Azure">
            <a:extLst>
              <a:ext uri="{FF2B5EF4-FFF2-40B4-BE49-F238E27FC236}">
                <a16:creationId xmlns:a16="http://schemas.microsoft.com/office/drawing/2014/main" id="{576870DF-50AC-CD60-C691-7B135A98ED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00089" y="2455138"/>
            <a:ext cx="3737164" cy="1962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12025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process flow&#10;&#10;AI-generated content may be incorrect.">
            <a:extLst>
              <a:ext uri="{FF2B5EF4-FFF2-40B4-BE49-F238E27FC236}">
                <a16:creationId xmlns:a16="http://schemas.microsoft.com/office/drawing/2014/main" id="{5F51602C-88BC-B1B2-C443-C1818E128856}"/>
              </a:ext>
            </a:extLst>
          </p:cNvPr>
          <p:cNvPicPr>
            <a:picLocks noChangeAspect="1"/>
          </p:cNvPicPr>
          <p:nvPr/>
        </p:nvPicPr>
        <p:blipFill>
          <a:blip r:embed="rId2"/>
          <a:stretch>
            <a:fillRect/>
          </a:stretch>
        </p:blipFill>
        <p:spPr>
          <a:xfrm>
            <a:off x="-304800" y="76200"/>
            <a:ext cx="12192000" cy="7429500"/>
          </a:xfrm>
          <a:prstGeom prst="rect">
            <a:avLst/>
          </a:prstGeom>
        </p:spPr>
      </p:pic>
    </p:spTree>
    <p:extLst>
      <p:ext uri="{BB962C8B-B14F-4D97-AF65-F5344CB8AC3E}">
        <p14:creationId xmlns:p14="http://schemas.microsoft.com/office/powerpoint/2010/main" val="31102916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501131C-3EA0-3DA7-3C0B-F44892B61580}"/>
              </a:ext>
            </a:extLst>
          </p:cNvPr>
          <p:cNvPicPr>
            <a:picLocks noChangeAspect="1"/>
          </p:cNvPicPr>
          <p:nvPr/>
        </p:nvPicPr>
        <p:blipFill>
          <a:blip r:embed="rId3"/>
          <a:stretch>
            <a:fillRect/>
          </a:stretch>
        </p:blipFill>
        <p:spPr>
          <a:xfrm>
            <a:off x="0" y="453683"/>
            <a:ext cx="12192000" cy="5908587"/>
          </a:xfrm>
          <a:prstGeom prst="rect">
            <a:avLst/>
          </a:prstGeom>
        </p:spPr>
      </p:pic>
    </p:spTree>
    <p:extLst>
      <p:ext uri="{BB962C8B-B14F-4D97-AF65-F5344CB8AC3E}">
        <p14:creationId xmlns:p14="http://schemas.microsoft.com/office/powerpoint/2010/main" val="7454263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E113306-BA29-CA2C-13CE-FAB672C2AFD5}"/>
              </a:ext>
            </a:extLst>
          </p:cNvPr>
          <p:cNvPicPr>
            <a:picLocks noChangeAspect="1"/>
          </p:cNvPicPr>
          <p:nvPr/>
        </p:nvPicPr>
        <p:blipFill>
          <a:blip r:embed="rId3"/>
          <a:stretch>
            <a:fillRect/>
          </a:stretch>
        </p:blipFill>
        <p:spPr>
          <a:xfrm>
            <a:off x="0" y="471299"/>
            <a:ext cx="12192000" cy="5915402"/>
          </a:xfrm>
          <a:prstGeom prst="rect">
            <a:avLst/>
          </a:prstGeom>
        </p:spPr>
      </p:pic>
    </p:spTree>
    <p:extLst>
      <p:ext uri="{BB962C8B-B14F-4D97-AF65-F5344CB8AC3E}">
        <p14:creationId xmlns:p14="http://schemas.microsoft.com/office/powerpoint/2010/main" val="17434118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F9A97B9-1CE0-A27E-718B-A4DCC3CD3CF5}"/>
              </a:ext>
            </a:extLst>
          </p:cNvPr>
          <p:cNvPicPr>
            <a:picLocks noChangeAspect="1"/>
          </p:cNvPicPr>
          <p:nvPr/>
        </p:nvPicPr>
        <p:blipFill>
          <a:blip r:embed="rId2"/>
          <a:stretch>
            <a:fillRect/>
          </a:stretch>
        </p:blipFill>
        <p:spPr>
          <a:xfrm>
            <a:off x="0" y="1157655"/>
            <a:ext cx="12105334" cy="4542690"/>
          </a:xfrm>
          <a:prstGeom prst="rect">
            <a:avLst/>
          </a:prstGeom>
        </p:spPr>
      </p:pic>
    </p:spTree>
    <p:extLst>
      <p:ext uri="{BB962C8B-B14F-4D97-AF65-F5344CB8AC3E}">
        <p14:creationId xmlns:p14="http://schemas.microsoft.com/office/powerpoint/2010/main" val="7778132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892E1DC-8363-95A9-4B0E-743E3DD04032}"/>
              </a:ext>
            </a:extLst>
          </p:cNvPr>
          <p:cNvPicPr>
            <a:picLocks noChangeAspect="1"/>
          </p:cNvPicPr>
          <p:nvPr/>
        </p:nvPicPr>
        <p:blipFill>
          <a:blip r:embed="rId2"/>
          <a:stretch>
            <a:fillRect/>
          </a:stretch>
        </p:blipFill>
        <p:spPr>
          <a:xfrm>
            <a:off x="-1" y="772936"/>
            <a:ext cx="12192193" cy="5312128"/>
          </a:xfrm>
          <a:prstGeom prst="rect">
            <a:avLst/>
          </a:prstGeom>
        </p:spPr>
      </p:pic>
    </p:spTree>
    <p:extLst>
      <p:ext uri="{BB962C8B-B14F-4D97-AF65-F5344CB8AC3E}">
        <p14:creationId xmlns:p14="http://schemas.microsoft.com/office/powerpoint/2010/main" val="32868156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AAD6A1-7840-A1A2-952A-3F282FF7D64F}"/>
              </a:ext>
            </a:extLst>
          </p:cNvPr>
          <p:cNvPicPr>
            <a:picLocks noChangeAspect="1"/>
          </p:cNvPicPr>
          <p:nvPr/>
        </p:nvPicPr>
        <p:blipFill>
          <a:blip r:embed="rId2"/>
          <a:stretch>
            <a:fillRect/>
          </a:stretch>
        </p:blipFill>
        <p:spPr>
          <a:xfrm>
            <a:off x="0" y="1072355"/>
            <a:ext cx="12192166" cy="4713291"/>
          </a:xfrm>
          <a:prstGeom prst="rect">
            <a:avLst/>
          </a:prstGeom>
        </p:spPr>
      </p:pic>
    </p:spTree>
    <p:extLst>
      <p:ext uri="{BB962C8B-B14F-4D97-AF65-F5344CB8AC3E}">
        <p14:creationId xmlns:p14="http://schemas.microsoft.com/office/powerpoint/2010/main" val="4825613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F172A8E-1BC1-C734-638E-1EF7BEF4C92C}"/>
              </a:ext>
            </a:extLst>
          </p:cNvPr>
          <p:cNvPicPr>
            <a:picLocks noChangeAspect="1"/>
          </p:cNvPicPr>
          <p:nvPr/>
        </p:nvPicPr>
        <p:blipFill>
          <a:blip r:embed="rId2"/>
          <a:stretch>
            <a:fillRect/>
          </a:stretch>
        </p:blipFill>
        <p:spPr>
          <a:xfrm>
            <a:off x="0" y="82613"/>
            <a:ext cx="12192000" cy="6775387"/>
          </a:xfrm>
          <a:prstGeom prst="rect">
            <a:avLst/>
          </a:prstGeom>
        </p:spPr>
      </p:pic>
    </p:spTree>
    <p:extLst>
      <p:ext uri="{BB962C8B-B14F-4D97-AF65-F5344CB8AC3E}">
        <p14:creationId xmlns:p14="http://schemas.microsoft.com/office/powerpoint/2010/main" val="411748886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637E9-87C1-DA39-A58F-D4C374029D5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F92E6E8-F2B6-7BB9-09FF-866B907B9E5B}"/>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3537700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system&#10;&#10;AI-generated content may be incorrect.">
            <a:extLst>
              <a:ext uri="{FF2B5EF4-FFF2-40B4-BE49-F238E27FC236}">
                <a16:creationId xmlns:a16="http://schemas.microsoft.com/office/drawing/2014/main" id="{02581BC0-B011-B4CA-05E5-A3E5BE733B9E}"/>
              </a:ext>
            </a:extLst>
          </p:cNvPr>
          <p:cNvPicPr>
            <a:picLocks noChangeAspect="1"/>
          </p:cNvPicPr>
          <p:nvPr/>
        </p:nvPicPr>
        <p:blipFill>
          <a:blip r:embed="rId2"/>
          <a:stretch>
            <a:fillRect/>
          </a:stretch>
        </p:blipFill>
        <p:spPr>
          <a:xfrm>
            <a:off x="59219" y="152400"/>
            <a:ext cx="12073562" cy="6553200"/>
          </a:xfrm>
          <a:prstGeom prst="rect">
            <a:avLst/>
          </a:prstGeom>
        </p:spPr>
      </p:pic>
    </p:spTree>
    <p:extLst>
      <p:ext uri="{BB962C8B-B14F-4D97-AF65-F5344CB8AC3E}">
        <p14:creationId xmlns:p14="http://schemas.microsoft.com/office/powerpoint/2010/main" val="16967251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599ADB9-A05C-63ED-FC00-39E8758206E1}"/>
              </a:ext>
            </a:extLst>
          </p:cNvPr>
          <p:cNvPicPr>
            <a:picLocks noChangeAspect="1"/>
          </p:cNvPicPr>
          <p:nvPr/>
        </p:nvPicPr>
        <p:blipFill>
          <a:blip r:embed="rId2"/>
          <a:stretch>
            <a:fillRect/>
          </a:stretch>
        </p:blipFill>
        <p:spPr>
          <a:xfrm>
            <a:off x="0" y="433252"/>
            <a:ext cx="12192000" cy="5991496"/>
          </a:xfrm>
          <a:prstGeom prst="rect">
            <a:avLst/>
          </a:prstGeom>
        </p:spPr>
      </p:pic>
    </p:spTree>
    <p:extLst>
      <p:ext uri="{BB962C8B-B14F-4D97-AF65-F5344CB8AC3E}">
        <p14:creationId xmlns:p14="http://schemas.microsoft.com/office/powerpoint/2010/main" val="32092558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7337957-275B-E812-E26B-C60C0F7CBD7D}"/>
              </a:ext>
            </a:extLst>
          </p:cNvPr>
          <p:cNvPicPr>
            <a:picLocks noChangeAspect="1"/>
          </p:cNvPicPr>
          <p:nvPr/>
        </p:nvPicPr>
        <p:blipFill>
          <a:blip r:embed="rId2"/>
          <a:stretch>
            <a:fillRect/>
          </a:stretch>
        </p:blipFill>
        <p:spPr>
          <a:xfrm>
            <a:off x="-1" y="453803"/>
            <a:ext cx="12200401" cy="5950394"/>
          </a:xfrm>
          <a:prstGeom prst="rect">
            <a:avLst/>
          </a:prstGeom>
        </p:spPr>
      </p:pic>
    </p:spTree>
    <p:extLst>
      <p:ext uri="{BB962C8B-B14F-4D97-AF65-F5344CB8AC3E}">
        <p14:creationId xmlns:p14="http://schemas.microsoft.com/office/powerpoint/2010/main" val="16745171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02793C7-B369-2EAA-CE9D-CA13E2D86297}"/>
              </a:ext>
            </a:extLst>
          </p:cNvPr>
          <p:cNvPicPr>
            <a:picLocks noChangeAspect="1"/>
          </p:cNvPicPr>
          <p:nvPr/>
        </p:nvPicPr>
        <p:blipFill>
          <a:blip r:embed="rId2"/>
          <a:stretch>
            <a:fillRect/>
          </a:stretch>
        </p:blipFill>
        <p:spPr>
          <a:xfrm>
            <a:off x="-1" y="446769"/>
            <a:ext cx="12229248" cy="5964463"/>
          </a:xfrm>
          <a:prstGeom prst="rect">
            <a:avLst/>
          </a:prstGeom>
        </p:spPr>
      </p:pic>
    </p:spTree>
    <p:extLst>
      <p:ext uri="{BB962C8B-B14F-4D97-AF65-F5344CB8AC3E}">
        <p14:creationId xmlns:p14="http://schemas.microsoft.com/office/powerpoint/2010/main" val="513164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1CE004C-A9CE-1F21-79E6-056A2CC643B3}"/>
              </a:ext>
            </a:extLst>
          </p:cNvPr>
          <p:cNvPicPr>
            <a:picLocks noChangeAspect="1"/>
          </p:cNvPicPr>
          <p:nvPr/>
        </p:nvPicPr>
        <p:blipFill>
          <a:blip r:embed="rId2"/>
          <a:stretch>
            <a:fillRect/>
          </a:stretch>
        </p:blipFill>
        <p:spPr>
          <a:xfrm>
            <a:off x="-1" y="684409"/>
            <a:ext cx="12192001" cy="5489183"/>
          </a:xfrm>
          <a:prstGeom prst="rect">
            <a:avLst/>
          </a:prstGeom>
        </p:spPr>
      </p:pic>
    </p:spTree>
    <p:extLst>
      <p:ext uri="{BB962C8B-B14F-4D97-AF65-F5344CB8AC3E}">
        <p14:creationId xmlns:p14="http://schemas.microsoft.com/office/powerpoint/2010/main" val="37975839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D1F1E"/>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DEE3B-2A32-A82E-320E-8BBE30820D69}"/>
              </a:ext>
            </a:extLst>
          </p:cNvPr>
          <p:cNvPicPr>
            <a:picLocks noChangeAspect="1"/>
          </p:cNvPicPr>
          <p:nvPr/>
        </p:nvPicPr>
        <p:blipFill>
          <a:blip r:embed="rId2"/>
          <a:stretch>
            <a:fillRect/>
          </a:stretch>
        </p:blipFill>
        <p:spPr>
          <a:xfrm>
            <a:off x="0" y="917954"/>
            <a:ext cx="12200030" cy="4835732"/>
          </a:xfrm>
          <a:prstGeom prst="rect">
            <a:avLst/>
          </a:prstGeom>
        </p:spPr>
      </p:pic>
    </p:spTree>
    <p:extLst>
      <p:ext uri="{BB962C8B-B14F-4D97-AF65-F5344CB8AC3E}">
        <p14:creationId xmlns:p14="http://schemas.microsoft.com/office/powerpoint/2010/main" val="284497187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EF357-99AA-9818-92BA-90FFC3EC72E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F65A500-04EA-1714-3B76-AC49A46FB286}"/>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4435280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412CDD3-368B-4ECD-861B-623E8CAF404B}"/>
              </a:ext>
            </a:extLst>
          </p:cNvPr>
          <p:cNvSpPr/>
          <p:nvPr/>
        </p:nvSpPr>
        <p:spPr>
          <a:xfrm>
            <a:off x="2274104" y="314337"/>
            <a:ext cx="2853689" cy="6400783"/>
          </a:xfrm>
          <a:prstGeom prst="rect">
            <a:avLst/>
          </a:pr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Serverless</a:t>
            </a:r>
          </a:p>
        </p:txBody>
      </p:sp>
      <p:sp>
        <p:nvSpPr>
          <p:cNvPr id="8" name="Rectangle 7">
            <a:extLst>
              <a:ext uri="{FF2B5EF4-FFF2-40B4-BE49-F238E27FC236}">
                <a16:creationId xmlns:a16="http://schemas.microsoft.com/office/drawing/2014/main" id="{7C849BBD-AB5A-4E3C-87CD-BC3366449FF1}"/>
              </a:ext>
            </a:extLst>
          </p:cNvPr>
          <p:cNvSpPr/>
          <p:nvPr/>
        </p:nvSpPr>
        <p:spPr>
          <a:xfrm>
            <a:off x="5127793" y="314339"/>
            <a:ext cx="3201353" cy="6400784"/>
          </a:xfrm>
          <a:prstGeom prst="rect">
            <a:avLst/>
          </a:prstGeom>
          <a:solidFill>
            <a:schemeClr val="accent6">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Streaming Data</a:t>
            </a:r>
            <a:endParaRPr kumimoji="0" lang="en-US" sz="15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4AD6C6FC-5150-4B77-A743-CEF0A65885F0}"/>
              </a:ext>
            </a:extLst>
          </p:cNvPr>
          <p:cNvSpPr/>
          <p:nvPr/>
        </p:nvSpPr>
        <p:spPr>
          <a:xfrm>
            <a:off x="8329147" y="314339"/>
            <a:ext cx="3567578" cy="6400785"/>
          </a:xfrm>
          <a:prstGeom prst="rect">
            <a:avLst/>
          </a:prstGeom>
          <a:solidFill>
            <a:schemeClr val="accent3">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Enterprise</a:t>
            </a:r>
          </a:p>
        </p:txBody>
      </p:sp>
      <p:graphicFrame>
        <p:nvGraphicFramePr>
          <p:cNvPr id="4" name="Content Placeholder 3">
            <a:extLst>
              <a:ext uri="{FF2B5EF4-FFF2-40B4-BE49-F238E27FC236}">
                <a16:creationId xmlns:a16="http://schemas.microsoft.com/office/drawing/2014/main" id="{4222B526-4E81-4E51-B492-B7EDAC4985F8}"/>
              </a:ext>
            </a:extLst>
          </p:cNvPr>
          <p:cNvGraphicFramePr>
            <a:graphicFrameLocks noGrp="1"/>
          </p:cNvGraphicFramePr>
          <p:nvPr>
            <p:ph idx="1"/>
            <p:extLst>
              <p:ext uri="{D42A27DB-BD31-4B8C-83A1-F6EECF244321}">
                <p14:modId xmlns:p14="http://schemas.microsoft.com/office/powerpoint/2010/main" val="724816354"/>
              </p:ext>
            </p:extLst>
          </p:nvPr>
        </p:nvGraphicFramePr>
        <p:xfrm>
          <a:off x="454933" y="314341"/>
          <a:ext cx="11282135" cy="6229319"/>
        </p:xfrm>
        <a:graphic>
          <a:graphicData uri="http://schemas.openxmlformats.org/drawingml/2006/table">
            <a:tbl>
              <a:tblPr firstRow="1" bandRow="1">
                <a:tableStyleId>{2D5ABB26-0587-4C30-8999-92F81FD0307C}</a:tableStyleId>
              </a:tblPr>
              <a:tblGrid>
                <a:gridCol w="1990416">
                  <a:extLst>
                    <a:ext uri="{9D8B030D-6E8A-4147-A177-3AD203B41FA5}">
                      <a16:colId xmlns:a16="http://schemas.microsoft.com/office/drawing/2014/main" val="1582576505"/>
                    </a:ext>
                  </a:extLst>
                </a:gridCol>
                <a:gridCol w="2687819">
                  <a:extLst>
                    <a:ext uri="{9D8B030D-6E8A-4147-A177-3AD203B41FA5}">
                      <a16:colId xmlns:a16="http://schemas.microsoft.com/office/drawing/2014/main" val="2659572726"/>
                    </a:ext>
                  </a:extLst>
                </a:gridCol>
                <a:gridCol w="3158386">
                  <a:extLst>
                    <a:ext uri="{9D8B030D-6E8A-4147-A177-3AD203B41FA5}">
                      <a16:colId xmlns:a16="http://schemas.microsoft.com/office/drawing/2014/main" val="3602601879"/>
                    </a:ext>
                  </a:extLst>
                </a:gridCol>
                <a:gridCol w="3445514">
                  <a:extLst>
                    <a:ext uri="{9D8B030D-6E8A-4147-A177-3AD203B41FA5}">
                      <a16:colId xmlns:a16="http://schemas.microsoft.com/office/drawing/2014/main" val="3639380612"/>
                    </a:ext>
                  </a:extLst>
                </a:gridCol>
              </a:tblGrid>
              <a:tr h="438674">
                <a:tc>
                  <a:txBody>
                    <a:bodyPr/>
                    <a:lstStyle/>
                    <a:p>
                      <a:r>
                        <a:rPr lang="en-US" sz="1900" b="1" dirty="0"/>
                        <a:t>Segment</a:t>
                      </a:r>
                    </a:p>
                  </a:txBody>
                  <a:tcPr marL="91427" marR="91427" marT="45713" marB="45713">
                    <a:lnB w="12700" cap="flat" cmpd="sng" algn="ctr">
                      <a:solidFill>
                        <a:schemeClr val="accent1"/>
                      </a:solidFill>
                      <a:prstDash val="solid"/>
                      <a:round/>
                      <a:headEnd type="none" w="med" len="med"/>
                      <a:tailEnd type="none" w="med" len="med"/>
                    </a:lnB>
                  </a:tcPr>
                </a:tc>
                <a:tc>
                  <a:txBody>
                    <a:bodyPr/>
                    <a:lstStyle/>
                    <a:p>
                      <a:pPr algn="l"/>
                      <a:r>
                        <a:rPr lang="en-US" sz="1800" b="1" dirty="0" err="1"/>
                        <a:t>Eventing</a:t>
                      </a:r>
                      <a:r>
                        <a:rPr lang="en-US" sz="1800" b="1" dirty="0"/>
                        <a:t> </a:t>
                      </a:r>
                      <a:r>
                        <a:rPr lang="en-US" sz="1800" b="1" dirty="0" err="1"/>
                        <a:t>PubSub</a:t>
                      </a:r>
                      <a:endParaRPr lang="en-US" sz="1800" b="1" dirty="0"/>
                    </a:p>
                  </a:txBody>
                  <a:tcPr marL="91427" marR="91427" marT="45713" marB="45713">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a:t>Streaming</a:t>
                      </a:r>
                      <a:endParaRPr lang="en-US" sz="1800" b="1" dirty="0"/>
                    </a:p>
                  </a:txBody>
                  <a:tcPr marL="91427" marR="91427" marT="45713" marB="45713">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dirty="0"/>
                        <a:t>Enterprise Messaging</a:t>
                      </a:r>
                    </a:p>
                  </a:txBody>
                  <a:tcPr marL="91427" marR="91427" marT="45713" marB="45713">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392751522"/>
                  </a:ext>
                </a:extLst>
              </a:tr>
              <a:tr h="42112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Product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Event Grid</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Event Hubs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Service Bus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667989973"/>
                  </a:ext>
                </a:extLst>
              </a:tr>
              <a:tr h="31936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What do you care about</a:t>
                      </a:r>
                    </a:p>
                    <a:p>
                      <a:endParaRPr lang="en-US" sz="1800" dirty="0"/>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Communication between apps / orgs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Individual message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Push and pull semantics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Filtering and routing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Pay as you go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Fan out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Many messages in a Stream (think in MBs)</a:t>
                      </a:r>
                    </a:p>
                    <a:p>
                      <a:pPr marL="285750" indent="-285750">
                        <a:buFont typeface="Arial" panose="020B0604020202020204" pitchFamily="34" charset="0"/>
                        <a:buChar char="•"/>
                      </a:pPr>
                      <a:r>
                        <a:rPr lang="en-US" sz="1600" dirty="0"/>
                        <a:t>Ease of use and operation</a:t>
                      </a:r>
                    </a:p>
                    <a:p>
                      <a:pPr marL="285750" indent="-285750">
                        <a:buFont typeface="Arial" panose="020B0604020202020204" pitchFamily="34" charset="0"/>
                        <a:buChar char="•"/>
                      </a:pPr>
                      <a:r>
                        <a:rPr lang="en-US" sz="1600" dirty="0"/>
                        <a:t>Low cost</a:t>
                      </a:r>
                    </a:p>
                    <a:p>
                      <a:pPr marL="285750" indent="-285750">
                        <a:buFont typeface="Arial" panose="020B0604020202020204" pitchFamily="34" charset="0"/>
                        <a:buChar char="•"/>
                      </a:pPr>
                      <a:r>
                        <a:rPr lang="en-US" sz="1600" dirty="0"/>
                        <a:t>Fan in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Strict ordering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Kafka compliant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Works with other tools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Instantaneous consistency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Strict ordering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JMS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Non-repudiation &amp; Security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Geo-Replication &amp; Availability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Rich features (de-dupe, scheduling, etc.)</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196242750"/>
                  </a:ext>
                </a:extLst>
              </a:tr>
              <a:tr h="1228316">
                <a:tc>
                  <a:txBody>
                    <a:bodyPr/>
                    <a:lstStyle/>
                    <a:p>
                      <a:r>
                        <a:rPr lang="en-US" sz="1800" dirty="0"/>
                        <a:t>What you care less about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Ordering of messaging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Instantaneous consistency</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Individual message semantics</a:t>
                      </a:r>
                    </a:p>
                    <a:p>
                      <a:pPr marL="285750" indent="-285750">
                        <a:buFont typeface="Arial" panose="020B0604020202020204" pitchFamily="34" charset="0"/>
                        <a:buChar char="•"/>
                      </a:pPr>
                      <a:r>
                        <a:rPr lang="en-US" sz="1600" dirty="0"/>
                        <a:t>Server-side cursor</a:t>
                      </a:r>
                    </a:p>
                    <a:p>
                      <a:pPr marL="285750" indent="-285750">
                        <a:buFont typeface="Arial" panose="020B0604020202020204" pitchFamily="34" charset="0"/>
                        <a:buChar char="•"/>
                      </a:pPr>
                      <a:r>
                        <a:rPr lang="en-US" sz="1600" dirty="0"/>
                        <a:t>Only Once</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Cost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Simplicity</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900995228"/>
                  </a:ext>
                </a:extLst>
              </a:tr>
              <a:tr h="947555">
                <a:tc>
                  <a:txBody>
                    <a:bodyPr/>
                    <a:lstStyle/>
                    <a:p>
                      <a:r>
                        <a:rPr lang="en-US" sz="1900" dirty="0"/>
                        <a:t>Focus point</a:t>
                      </a:r>
                      <a:endParaRPr lang="en-US" sz="1800" dirty="0"/>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Reliable fan out push at massive scale</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High scale distributed log</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Highly indexed full featured message broker</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60333414"/>
                  </a:ext>
                </a:extLst>
              </a:tr>
            </a:tbl>
          </a:graphicData>
        </a:graphic>
      </p:graphicFrame>
    </p:spTree>
    <p:extLst>
      <p:ext uri="{BB962C8B-B14F-4D97-AF65-F5344CB8AC3E}">
        <p14:creationId xmlns:p14="http://schemas.microsoft.com/office/powerpoint/2010/main" val="3532696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BBD90B0B-1E35-7F66-AC33-37FBC951D06A}"/>
              </a:ext>
            </a:extLst>
          </p:cNvPr>
          <p:cNvPicPr>
            <a:picLocks noGrp="1" noChangeAspect="1"/>
          </p:cNvPicPr>
          <p:nvPr>
            <p:ph idx="1"/>
          </p:nvPr>
        </p:nvPicPr>
        <p:blipFill>
          <a:blip r:embed="rId3"/>
          <a:srcRect t="21934" r="9089" b="6143"/>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F818581-331C-1249-8681-E5D0A4675B19}"/>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solidFill>
                  <a:schemeClr val="accent2"/>
                </a:solidFill>
                <a:cs typeface="Calibri Light"/>
              </a:rPr>
              <a:t>Use all of them</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52932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3716E67-042F-6A02-2452-A2471D21BB12}"/>
              </a:ext>
            </a:extLst>
          </p:cNvPr>
          <p:cNvPicPr>
            <a:picLocks noChangeAspect="1"/>
          </p:cNvPicPr>
          <p:nvPr/>
        </p:nvPicPr>
        <p:blipFill>
          <a:blip r:embed="rId3"/>
          <a:stretch>
            <a:fillRect/>
          </a:stretch>
        </p:blipFill>
        <p:spPr>
          <a:xfrm>
            <a:off x="-109183" y="-95536"/>
            <a:ext cx="12301183" cy="7038399"/>
          </a:xfrm>
          <a:prstGeom prst="rect">
            <a:avLst/>
          </a:prstGeom>
          <a:solidFill>
            <a:srgbClr val="1A1A1A"/>
          </a:solidFill>
        </p:spPr>
      </p:pic>
      <p:pic>
        <p:nvPicPr>
          <p:cNvPr id="14" name="Content Placeholder 13">
            <a:extLst>
              <a:ext uri="{FF2B5EF4-FFF2-40B4-BE49-F238E27FC236}">
                <a16:creationId xmlns:a16="http://schemas.microsoft.com/office/drawing/2014/main" id="{3CA52D53-B467-5275-61AD-5425F395B67C}"/>
              </a:ext>
            </a:extLst>
          </p:cNvPr>
          <p:cNvPicPr>
            <a:picLocks noGrp="1" noChangeAspect="1"/>
          </p:cNvPicPr>
          <p:nvPr>
            <p:ph idx="1"/>
          </p:nvPr>
        </p:nvPicPr>
        <p:blipFill>
          <a:blip r:embed="rId4"/>
          <a:srcRect/>
          <a:stretch/>
        </p:blipFill>
        <p:spPr>
          <a:xfrm>
            <a:off x="1190778" y="3614926"/>
            <a:ext cx="2671537" cy="2671537"/>
          </a:xfrm>
        </p:spPr>
      </p:pic>
      <p:sp>
        <p:nvSpPr>
          <p:cNvPr id="6" name="TextBox 5">
            <a:extLst>
              <a:ext uri="{FF2B5EF4-FFF2-40B4-BE49-F238E27FC236}">
                <a16:creationId xmlns:a16="http://schemas.microsoft.com/office/drawing/2014/main" id="{8ED83A76-513A-0663-4EE9-6821D7A920D8}"/>
              </a:ext>
            </a:extLst>
          </p:cNvPr>
          <p:cNvSpPr txBox="1"/>
          <p:nvPr/>
        </p:nvSpPr>
        <p:spPr>
          <a:xfrm>
            <a:off x="4176215" y="2992288"/>
            <a:ext cx="7301552" cy="1484177"/>
          </a:xfrm>
          <a:prstGeom prst="rect">
            <a:avLst/>
          </a:prstGeom>
          <a:solidFill>
            <a:schemeClr val="accent2"/>
          </a:solidFill>
        </p:spPr>
        <p:txBody>
          <a:bodyPr wrap="square" rtlCol="0">
            <a:spAutoFit/>
          </a:bodyPr>
          <a:lstStyle/>
          <a:p>
            <a:r>
              <a:rPr lang="en-US" sz="4400" dirty="0" err="1">
                <a:solidFill>
                  <a:schemeClr val="bg1"/>
                </a:solidFill>
              </a:rPr>
              <a:t>go.particular.net</a:t>
            </a:r>
            <a:r>
              <a:rPr lang="en-US" sz="4400" dirty="0">
                <a:solidFill>
                  <a:schemeClr val="bg1"/>
                </a:solidFill>
              </a:rPr>
              <a:t>/</a:t>
            </a:r>
            <a:br>
              <a:rPr lang="en-US" sz="4400" dirty="0">
                <a:solidFill>
                  <a:schemeClr val="bg1"/>
                </a:solidFill>
              </a:rPr>
            </a:br>
            <a:r>
              <a:rPr lang="en-US" sz="4400" dirty="0">
                <a:solidFill>
                  <a:schemeClr val="bg1"/>
                </a:solidFill>
              </a:rPr>
              <a:t>ndc-oslo-2025-azure-apps</a:t>
            </a:r>
          </a:p>
        </p:txBody>
      </p:sp>
    </p:spTree>
    <p:extLst>
      <p:ext uri="{BB962C8B-B14F-4D97-AF65-F5344CB8AC3E}">
        <p14:creationId xmlns:p14="http://schemas.microsoft.com/office/powerpoint/2010/main" val="314087884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85FEC10-B7C3-E143-03BE-907657237F5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27809D7-6DCF-EA4C-81DF-1891183AAD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3C381B26-BEFA-9C27-3F69-F62C8F9643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CC41CB-22F6-C1AA-5EFC-07F81BCFE980}"/>
              </a:ext>
            </a:extLst>
          </p:cNvPr>
          <p:cNvSpPr>
            <a:spLocks noGrp="1"/>
          </p:cNvSpPr>
          <p:nvPr>
            <p:ph type="title"/>
          </p:nvPr>
        </p:nvSpPr>
        <p:spPr>
          <a:xfrm>
            <a:off x="477980" y="1122363"/>
            <a:ext cx="10515599" cy="3204134"/>
          </a:xfrm>
        </p:spPr>
        <p:txBody>
          <a:bodyPr vert="horz" lIns="91440" tIns="45720" rIns="91440" bIns="45720" rtlCol="0" anchor="b">
            <a:normAutofit/>
          </a:bodyPr>
          <a:lstStyle/>
          <a:p>
            <a:r>
              <a:rPr lang="en-US" sz="4800" dirty="0" err="1">
                <a:solidFill>
                  <a:schemeClr val="accent2"/>
                </a:solidFill>
                <a:cs typeface="Calibri Light"/>
              </a:rPr>
              <a:t>github.com</a:t>
            </a:r>
            <a:r>
              <a:rPr lang="en-US" sz="4800" dirty="0">
                <a:solidFill>
                  <a:schemeClr val="accent2"/>
                </a:solidFill>
                <a:cs typeface="Calibri Light"/>
              </a:rPr>
              <a:t>/</a:t>
            </a:r>
            <a:r>
              <a:rPr lang="en-US" sz="4800" dirty="0" err="1">
                <a:solidFill>
                  <a:schemeClr val="accent2"/>
                </a:solidFill>
                <a:cs typeface="Calibri Light"/>
              </a:rPr>
              <a:t>danielmarbach</a:t>
            </a:r>
            <a:r>
              <a:rPr lang="en-US" sz="4800" dirty="0">
                <a:solidFill>
                  <a:schemeClr val="accent2"/>
                </a:solidFill>
                <a:cs typeface="Calibri Light"/>
              </a:rPr>
              <a:t>/</a:t>
            </a:r>
            <a:br>
              <a:rPr lang="en-US" sz="4800" dirty="0">
                <a:solidFill>
                  <a:schemeClr val="accent2"/>
                </a:solidFill>
                <a:cs typeface="Calibri Light"/>
              </a:rPr>
            </a:br>
            <a:r>
              <a:rPr lang="en-US" sz="4800" dirty="0" err="1">
                <a:solidFill>
                  <a:schemeClr val="accent2"/>
                </a:solidFill>
                <a:cs typeface="Calibri Light"/>
              </a:rPr>
              <a:t>AzureMessagingOverchoice</a:t>
            </a:r>
            <a:endParaRPr lang="en-US" sz="4800" dirty="0">
              <a:solidFill>
                <a:schemeClr val="accent2"/>
              </a:solidFill>
              <a:cs typeface="Calibri Light"/>
            </a:endParaRPr>
          </a:p>
        </p:txBody>
      </p:sp>
      <p:sp>
        <p:nvSpPr>
          <p:cNvPr id="13" name="Rectangle 12">
            <a:extLst>
              <a:ext uri="{FF2B5EF4-FFF2-40B4-BE49-F238E27FC236}">
                <a16:creationId xmlns:a16="http://schemas.microsoft.com/office/drawing/2014/main" id="{2A48096C-AD56-3C92-3AA8-9B79E245A4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98AA3A20-C3AE-5F8B-AC57-65DACE1A9D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4" name="Picture 13" descr="A qr code on a black background&#10;&#10;AI-generated content may be incorrect.">
            <a:extLst>
              <a:ext uri="{FF2B5EF4-FFF2-40B4-BE49-F238E27FC236}">
                <a16:creationId xmlns:a16="http://schemas.microsoft.com/office/drawing/2014/main" id="{4FD1223E-3BD0-1AE9-B286-095B7860288D}"/>
              </a:ext>
            </a:extLst>
          </p:cNvPr>
          <p:cNvPicPr>
            <a:picLocks noChangeAspect="1"/>
          </p:cNvPicPr>
          <p:nvPr/>
        </p:nvPicPr>
        <p:blipFill>
          <a:blip r:embed="rId3"/>
          <a:stretch>
            <a:fillRect/>
          </a:stretch>
        </p:blipFill>
        <p:spPr>
          <a:xfrm>
            <a:off x="7986671" y="1566850"/>
            <a:ext cx="3724300" cy="3724300"/>
          </a:xfrm>
          <a:prstGeom prst="rect">
            <a:avLst/>
          </a:prstGeom>
        </p:spPr>
      </p:pic>
    </p:spTree>
    <p:extLst>
      <p:ext uri="{BB962C8B-B14F-4D97-AF65-F5344CB8AC3E}">
        <p14:creationId xmlns:p14="http://schemas.microsoft.com/office/powerpoint/2010/main" val="16480520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579CB1-A0C6-5F0C-21B9-923F5F79ECF5}"/>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ABB969D-7392-0A12-9426-1AF77E453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Grafik 3" descr="Ein Bild, das draußen, Gras, Himmel, Pflanze enthält.&#10;&#10;Beschreibung automatisch generiert.">
            <a:extLst>
              <a:ext uri="{FF2B5EF4-FFF2-40B4-BE49-F238E27FC236}">
                <a16:creationId xmlns:a16="http://schemas.microsoft.com/office/drawing/2014/main" id="{E39707B5-D69D-E730-99A8-822876B55F7E}"/>
              </a:ext>
            </a:extLst>
          </p:cNvPr>
          <p:cNvPicPr>
            <a:picLocks noChangeAspect="1"/>
          </p:cNvPicPr>
          <p:nvPr/>
        </p:nvPicPr>
        <p:blipFill rotWithShape="1">
          <a:blip r:embed="rId3"/>
          <a:srcRect t="9091" r="13818"/>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12C12604-4097-27BC-BCEE-F13305193B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el 1">
            <a:extLst>
              <a:ext uri="{FF2B5EF4-FFF2-40B4-BE49-F238E27FC236}">
                <a16:creationId xmlns:a16="http://schemas.microsoft.com/office/drawing/2014/main" id="{219EF835-7D18-37AB-CE54-F2B8F78AE6E4}"/>
              </a:ext>
            </a:extLst>
          </p:cNvPr>
          <p:cNvSpPr>
            <a:spLocks noGrp="1"/>
          </p:cNvSpPr>
          <p:nvPr>
            <p:ph type="ctrTitle"/>
          </p:nvPr>
        </p:nvSpPr>
        <p:spPr>
          <a:xfrm>
            <a:off x="477980" y="1122363"/>
            <a:ext cx="8668512" cy="3204134"/>
          </a:xfrm>
        </p:spPr>
        <p:txBody>
          <a:bodyPr anchor="b">
            <a:normAutofit/>
          </a:bodyPr>
          <a:lstStyle/>
          <a:p>
            <a:pPr algn="l"/>
            <a:r>
              <a:rPr lang="de-DE" sz="4000" dirty="0" err="1">
                <a:solidFill>
                  <a:schemeClr val="bg1"/>
                </a:solidFill>
                <a:cs typeface="Calibri Light"/>
              </a:rPr>
              <a:t>Navigating</a:t>
            </a:r>
            <a:r>
              <a:rPr lang="de-DE" sz="4000" dirty="0">
                <a:solidFill>
                  <a:schemeClr val="bg1"/>
                </a:solidFill>
                <a:cs typeface="Calibri Light"/>
              </a:rPr>
              <a:t> </a:t>
            </a:r>
            <a:r>
              <a:rPr lang="de-DE" sz="4000" dirty="0" err="1">
                <a:solidFill>
                  <a:schemeClr val="bg1"/>
                </a:solidFill>
                <a:cs typeface="Calibri Light"/>
              </a:rPr>
              <a:t>through</a:t>
            </a:r>
            <a:r>
              <a:rPr lang="de-DE" sz="4800" dirty="0">
                <a:solidFill>
                  <a:schemeClr val="bg1"/>
                </a:solidFill>
                <a:cs typeface="Calibri Light"/>
              </a:rPr>
              <a:t> </a:t>
            </a:r>
            <a:r>
              <a:rPr lang="de-DE" sz="4000" dirty="0" err="1">
                <a:solidFill>
                  <a:schemeClr val="bg1"/>
                </a:solidFill>
                <a:cs typeface="Calibri Light"/>
              </a:rPr>
              <a:t>the</a:t>
            </a:r>
            <a:br>
              <a:rPr lang="de-DE" sz="4000" dirty="0">
                <a:solidFill>
                  <a:schemeClr val="bg1"/>
                </a:solidFill>
                <a:cs typeface="Calibri Light"/>
              </a:rPr>
            </a:br>
            <a:r>
              <a:rPr lang="de-DE" sz="4800" dirty="0">
                <a:solidFill>
                  <a:schemeClr val="accent2"/>
                </a:solidFill>
                <a:cs typeface="Calibri Light"/>
              </a:rPr>
              <a:t>Azure Messaging</a:t>
            </a:r>
            <a:br>
              <a:rPr lang="de-DE" sz="4800" dirty="0">
                <a:solidFill>
                  <a:schemeClr val="accent2"/>
                </a:solidFill>
                <a:cs typeface="Calibri Light"/>
              </a:rPr>
            </a:br>
            <a:r>
              <a:rPr lang="de-DE" sz="4000" dirty="0">
                <a:solidFill>
                  <a:schemeClr val="bg1"/>
                </a:solidFill>
                <a:cs typeface="Calibri Light"/>
              </a:rPr>
              <a:t>(</a:t>
            </a:r>
            <a:r>
              <a:rPr lang="de-DE" sz="4000" dirty="0" err="1">
                <a:solidFill>
                  <a:schemeClr val="bg1"/>
                </a:solidFill>
                <a:cs typeface="Calibri Light"/>
              </a:rPr>
              <a:t>over</a:t>
            </a:r>
            <a:r>
              <a:rPr lang="de-DE" sz="4000" dirty="0">
                <a:solidFill>
                  <a:schemeClr val="bg1"/>
                </a:solidFill>
                <a:cs typeface="Calibri Light"/>
              </a:rPr>
              <a:t>)</a:t>
            </a:r>
            <a:r>
              <a:rPr lang="de-DE" sz="4000" dirty="0" err="1">
                <a:solidFill>
                  <a:schemeClr val="bg1"/>
                </a:solidFill>
                <a:cs typeface="Calibri Light"/>
              </a:rPr>
              <a:t>choice</a:t>
            </a:r>
            <a:endParaRPr lang="de-DE" sz="4800" dirty="0">
              <a:solidFill>
                <a:schemeClr val="bg1"/>
              </a:solidFill>
              <a:cs typeface="Calibri Light"/>
            </a:endParaRPr>
          </a:p>
        </p:txBody>
      </p:sp>
      <p:sp>
        <p:nvSpPr>
          <p:cNvPr id="3" name="Untertitel 2">
            <a:extLst>
              <a:ext uri="{FF2B5EF4-FFF2-40B4-BE49-F238E27FC236}">
                <a16:creationId xmlns:a16="http://schemas.microsoft.com/office/drawing/2014/main" id="{F362D6A0-71D7-F8C8-E861-29364BA35D4D}"/>
              </a:ext>
            </a:extLst>
          </p:cNvPr>
          <p:cNvSpPr>
            <a:spLocks noGrp="1"/>
          </p:cNvSpPr>
          <p:nvPr>
            <p:ph type="subTitle" idx="1"/>
          </p:nvPr>
        </p:nvSpPr>
        <p:spPr>
          <a:xfrm>
            <a:off x="477980" y="4872922"/>
            <a:ext cx="4023359" cy="1208141"/>
          </a:xfrm>
        </p:spPr>
        <p:txBody>
          <a:bodyPr>
            <a:normAutofit/>
          </a:bodyPr>
          <a:lstStyle/>
          <a:p>
            <a:pPr algn="l"/>
            <a:r>
              <a:rPr lang="de-DE" sz="2000" dirty="0" err="1">
                <a:solidFill>
                  <a:schemeClr val="accent2"/>
                </a:solidFill>
              </a:rPr>
              <a:t>daniel.</a:t>
            </a:r>
            <a:r>
              <a:rPr lang="de-DE" sz="2000" err="1">
                <a:solidFill>
                  <a:schemeClr val="accent2"/>
                </a:solidFill>
              </a:rPr>
              <a:t>marbach</a:t>
            </a:r>
            <a:r>
              <a:rPr lang="de-DE" sz="2000">
                <a:solidFill>
                  <a:schemeClr val="accent2"/>
                </a:solidFill>
              </a:rPr>
              <a:t>@particular.</a:t>
            </a:r>
            <a:r>
              <a:rPr lang="de-DE" sz="2000" dirty="0" err="1">
                <a:solidFill>
                  <a:schemeClr val="accent2"/>
                </a:solidFill>
              </a:rPr>
              <a:t>net</a:t>
            </a:r>
            <a:endParaRPr lang="de-DE" sz="2000" dirty="0">
              <a:solidFill>
                <a:schemeClr val="accent2"/>
              </a:solidFill>
            </a:endParaRPr>
          </a:p>
        </p:txBody>
      </p:sp>
      <p:sp>
        <p:nvSpPr>
          <p:cNvPr id="19" name="Rectangle 18">
            <a:extLst>
              <a:ext uri="{FF2B5EF4-FFF2-40B4-BE49-F238E27FC236}">
                <a16:creationId xmlns:a16="http://schemas.microsoft.com/office/drawing/2014/main" id="{A09FCDDE-EFC5-3D82-A3AC-02C996BD8C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7450A5-96E4-8E1B-AB2F-8858F2959E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23373354"/>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F4B54B"/>
      </a:accent1>
      <a:accent2>
        <a:srgbClr val="A2C84E"/>
      </a:accent2>
      <a:accent3>
        <a:srgbClr val="4BC298"/>
      </a:accent3>
      <a:accent4>
        <a:srgbClr val="4CB5D3"/>
      </a:accent4>
      <a:accent5>
        <a:srgbClr val="9167E3"/>
      </a:accent5>
      <a:accent6>
        <a:srgbClr val="E05073"/>
      </a:accent6>
      <a:hlink>
        <a:srgbClr val="E19520"/>
      </a:hlink>
      <a:folHlink>
        <a:srgbClr val="E8B15D"/>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DD1DAD52-B525-46B5-8E87-60EE23581B9C}"/>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3462</TotalTime>
  <Words>1783</Words>
  <Application>Microsoft Macintosh PowerPoint</Application>
  <PresentationFormat>Widescreen</PresentationFormat>
  <Paragraphs>154</Paragraphs>
  <Slides>59</Slides>
  <Notes>30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59</vt:i4>
      </vt:variant>
    </vt:vector>
  </HeadingPairs>
  <TitlesOfParts>
    <vt:vector size="70" baseType="lpstr">
      <vt:lpstr>Aptos</vt:lpstr>
      <vt:lpstr>Aptos Display</vt:lpstr>
      <vt:lpstr>Arial</vt:lpstr>
      <vt:lpstr>Calibri</vt:lpstr>
      <vt:lpstr>Calibri Light</vt:lpstr>
      <vt:lpstr>Century Gothic</vt:lpstr>
      <vt:lpstr>Segoe Pro Semibold</vt:lpstr>
      <vt:lpstr>Segoe UI</vt:lpstr>
      <vt:lpstr>Segoe UI Semibold</vt:lpstr>
      <vt:lpstr>Office Theme</vt:lpstr>
      <vt:lpstr>Mesh</vt:lpstr>
      <vt:lpstr>Navigating through the Azure Messaging (over)choice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Use all of them</vt:lpstr>
      <vt:lpstr>PowerPoint Presentation</vt:lpstr>
      <vt:lpstr>github.com/danielmarbach/ AzureMessagingOverchoice</vt:lpstr>
      <vt:lpstr>Navigating through the Azure Messaging (over)choice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 Marbach</dc:creator>
  <cp:lastModifiedBy>Daniel Marbach</cp:lastModifiedBy>
  <cp:revision>87</cp:revision>
  <cp:lastPrinted>2025-05-19T20:17:03Z</cp:lastPrinted>
  <dcterms:created xsi:type="dcterms:W3CDTF">2025-04-22T19:22:45Z</dcterms:created>
  <dcterms:modified xsi:type="dcterms:W3CDTF">2025-05-23T08:29:25Z</dcterms:modified>
</cp:coreProperties>
</file>